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2.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1"/>
  </p:sldMasterIdLst>
  <p:notesMasterIdLst>
    <p:notesMasterId r:id="rId6"/>
  </p:notesMasterIdLst>
  <p:handoutMasterIdLst>
    <p:handoutMasterId r:id="rId7"/>
  </p:handoutMasterIdLst>
  <p:sldIdLst>
    <p:sldId id="532" r:id="rId2"/>
    <p:sldId id="302" r:id="rId3"/>
    <p:sldId id="482" r:id="rId4"/>
    <p:sldId id="334"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1786" userDrawn="1">
          <p15:clr>
            <a:srgbClr val="A4A3A4"/>
          </p15:clr>
        </p15:guide>
        <p15:guide id="5" pos="6185" userDrawn="1">
          <p15:clr>
            <a:srgbClr val="A4A3A4"/>
          </p15:clr>
        </p15:guide>
        <p15:guide id="7" pos="1345" userDrawn="1">
          <p15:clr>
            <a:srgbClr val="A4A3A4"/>
          </p15:clr>
        </p15:guide>
        <p15:guide id="8" pos="89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3FC9"/>
    <a:srgbClr val="041B2C"/>
    <a:srgbClr val="020F16"/>
    <a:srgbClr val="05154D"/>
    <a:srgbClr val="2C2C2C"/>
    <a:srgbClr val="B71C1C"/>
    <a:srgbClr val="7D0D2D"/>
    <a:srgbClr val="480B22"/>
    <a:srgbClr val="F2F2F2"/>
    <a:srgbClr val="7B11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01" autoAdjust="0"/>
    <p:restoredTop sz="87188" autoAdjust="0"/>
  </p:normalViewPr>
  <p:slideViewPr>
    <p:cSldViewPr>
      <p:cViewPr varScale="1">
        <p:scale>
          <a:sx n="109" d="100"/>
          <a:sy n="109" d="100"/>
        </p:scale>
        <p:origin x="792" y="176"/>
      </p:cViewPr>
      <p:guideLst>
        <p:guide orient="horz" pos="1786"/>
        <p:guide pos="6185"/>
        <p:guide pos="1345"/>
        <p:guide pos="896"/>
      </p:guideLst>
    </p:cSldViewPr>
  </p:slideViewPr>
  <p:outlineViewPr>
    <p:cViewPr>
      <p:scale>
        <a:sx n="33" d="100"/>
        <a:sy n="33" d="100"/>
      </p:scale>
      <p:origin x="0" y="0"/>
    </p:cViewPr>
  </p:outlineViewPr>
  <p:notesTextViewPr>
    <p:cViewPr>
      <p:scale>
        <a:sx n="20" d="100"/>
        <a:sy n="20" d="100"/>
      </p:scale>
      <p:origin x="0" y="0"/>
    </p:cViewPr>
  </p:notesTextViewPr>
  <p:sorterViewPr>
    <p:cViewPr>
      <p:scale>
        <a:sx n="66" d="100"/>
        <a:sy n="66" d="100"/>
      </p:scale>
      <p:origin x="0" y="0"/>
    </p:cViewPr>
  </p:sorterViewPr>
  <p:notesViewPr>
    <p:cSldViewPr>
      <p:cViewPr>
        <p:scale>
          <a:sx n="75" d="100"/>
          <a:sy n="75" d="100"/>
        </p:scale>
        <p:origin x="4120" y="520"/>
      </p:cViewPr>
      <p:guideLst/>
    </p:cSldViewPr>
  </p:notesViewPr>
  <p:gridSpacing cx="39601" cy="39601"/>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10/30/25</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‹N°›</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‹N°›</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10/30/25</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dirty="0"/>
              <a:t>Notes view: </a:t>
            </a:r>
            <a:fld id="{128CEAFE-FA94-43E5-B0FF-D47E1CCDD1B4}" type="slidenum">
              <a:rPr lang="en-US" smtClean="0"/>
              <a:pPr/>
              <a:t>0</a:t>
            </a:fld>
            <a:endParaRPr lang="en-US" dirty="0"/>
          </a:p>
        </p:txBody>
      </p:sp>
    </p:spTree>
    <p:extLst>
      <p:ext uri="{BB962C8B-B14F-4D97-AF65-F5344CB8AC3E}">
        <p14:creationId xmlns:p14="http://schemas.microsoft.com/office/powerpoint/2010/main" val="10870247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dirty="0"/>
              <a:t>Notes view: </a:t>
            </a:r>
            <a:fld id="{128CEAFE-FA94-43E5-B0FF-D47E1CCDD1B4}" type="slidenum">
              <a:rPr lang="en-US" smtClean="0"/>
              <a:pPr/>
              <a:t>1</a:t>
            </a:fld>
            <a:endParaRPr lang="en-US" dirty="0"/>
          </a:p>
        </p:txBody>
      </p:sp>
    </p:spTree>
    <p:extLst>
      <p:ext uri="{BB962C8B-B14F-4D97-AF65-F5344CB8AC3E}">
        <p14:creationId xmlns:p14="http://schemas.microsoft.com/office/powerpoint/2010/main" val="2067733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dirty="0"/>
              <a:t>Notes view: </a:t>
            </a:r>
            <a:fld id="{128CEAFE-FA94-43E5-B0FF-D47E1CCDD1B4}" type="slidenum">
              <a:rPr lang="en-US" smtClean="0"/>
              <a:pPr/>
              <a:t>2</a:t>
            </a:fld>
            <a:endParaRPr lang="en-US" dirty="0"/>
          </a:p>
        </p:txBody>
      </p:sp>
    </p:spTree>
    <p:extLst>
      <p:ext uri="{BB962C8B-B14F-4D97-AF65-F5344CB8AC3E}">
        <p14:creationId xmlns:p14="http://schemas.microsoft.com/office/powerpoint/2010/main" val="33887605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dirty="0"/>
              <a:t>Notes view: </a:t>
            </a:r>
            <a:fld id="{128CEAFE-FA94-43E5-B0FF-D47E1CCDD1B4}" type="slidenum">
              <a:rPr lang="en-US" smtClean="0"/>
              <a:pPr/>
              <a:t>3</a:t>
            </a:fld>
            <a:endParaRPr lang="en-US" dirty="0"/>
          </a:p>
        </p:txBody>
      </p:sp>
    </p:spTree>
    <p:extLst>
      <p:ext uri="{BB962C8B-B14F-4D97-AF65-F5344CB8AC3E}">
        <p14:creationId xmlns:p14="http://schemas.microsoft.com/office/powerpoint/2010/main" val="21164968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4.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8.png"/><Relationship Id="rId4" Type="http://schemas.openxmlformats.org/officeDocument/2006/relationships/image" Target="../media/image7.emf"/></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0.jp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3.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2.xml"/><Relationship Id="rId7" Type="http://schemas.openxmlformats.org/officeDocument/2006/relationships/image" Target="../media/image3.emf"/><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image" Target="../media/image10.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5.png"/><Relationship Id="rId4" Type="http://schemas.openxmlformats.org/officeDocument/2006/relationships/image" Target="../media/image7.emf"/></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9.png"/><Relationship Id="rId4" Type="http://schemas.openxmlformats.org/officeDocument/2006/relationships/image" Target="../media/image3.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10.jp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3.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28.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9.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034" name="Picture 10" descr="The rise of supertall towers | McKinsey">
            <a:extLst>
              <a:ext uri="{FF2B5EF4-FFF2-40B4-BE49-F238E27FC236}">
                <a16:creationId xmlns:a16="http://schemas.microsoft.com/office/drawing/2014/main" id="{39C42785-4A99-90D4-AFC6-3F2500AA81D0}"/>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t="10840"/>
          <a:stretch>
            <a:fillRect/>
          </a:stretch>
        </p:blipFill>
        <p:spPr bwMode="auto">
          <a:xfrm>
            <a:off x="0" y="-878694"/>
            <a:ext cx="12192000" cy="611457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730489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5" name="Rectangle 4">
            <a:extLst>
              <a:ext uri="{FF2B5EF4-FFF2-40B4-BE49-F238E27FC236}">
                <a16:creationId xmlns:a16="http://schemas.microsoft.com/office/drawing/2014/main" id="{AEA89FA2-644C-661B-58BC-70008AE67C68}"/>
              </a:ext>
            </a:extLst>
          </p:cNvPr>
          <p:cNvSpPr/>
          <p:nvPr userDrawn="1"/>
        </p:nvSpPr>
        <p:spPr>
          <a:xfrm>
            <a:off x="0" y="5290609"/>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6" name="Picture 5">
            <a:extLst>
              <a:ext uri="{FF2B5EF4-FFF2-40B4-BE49-F238E27FC236}">
                <a16:creationId xmlns:a16="http://schemas.microsoft.com/office/drawing/2014/main" id="{17416635-F903-A530-8624-70C888DCA6BC}"/>
              </a:ext>
            </a:extLst>
          </p:cNvPr>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sp>
        <p:nvSpPr>
          <p:cNvPr id="7" name="Picture Placeholder 8">
            <a:extLst>
              <a:ext uri="{FF2B5EF4-FFF2-40B4-BE49-F238E27FC236}">
                <a16:creationId xmlns:a16="http://schemas.microsoft.com/office/drawing/2014/main" id="{28A2942E-B023-1ABA-CB8D-9637B97D3EF2}"/>
              </a:ext>
            </a:extLst>
          </p:cNvPr>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8" name="Rectangle 7">
            <a:extLst>
              <a:ext uri="{FF2B5EF4-FFF2-40B4-BE49-F238E27FC236}">
                <a16:creationId xmlns:a16="http://schemas.microsoft.com/office/drawing/2014/main" id="{16AD5E64-BA34-4FC2-6B0B-A7C11157BAEF}"/>
              </a:ext>
            </a:extLst>
          </p:cNvPr>
          <p:cNvSpPr/>
          <p:nvPr userDrawn="1"/>
        </p:nvSpPr>
        <p:spPr bwMode="black">
          <a:xfrm>
            <a:off x="630936" y="626200"/>
            <a:ext cx="8125200" cy="5529600"/>
          </a:xfrm>
          <a:prstGeom prst="rect">
            <a:avLst/>
          </a:prstGeom>
          <a:gradFill flip="none" rotWithShape="1">
            <a:gsLst>
              <a:gs pos="0">
                <a:srgbClr val="020F16"/>
              </a:gs>
              <a:gs pos="100000">
                <a:srgbClr val="05154D">
                  <a:alpha val="75000"/>
                </a:srgb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9" name="Text Placeholder 6">
            <a:extLst>
              <a:ext uri="{FF2B5EF4-FFF2-40B4-BE49-F238E27FC236}">
                <a16:creationId xmlns:a16="http://schemas.microsoft.com/office/drawing/2014/main" id="{9F4495A3-5AB7-8513-9371-11B6CD1C4B76}"/>
              </a:ext>
            </a:extLst>
          </p:cNvPr>
          <p:cNvSpPr>
            <a:spLocks noGrp="1"/>
          </p:cNvSpPr>
          <p:nvPr>
            <p:ph type="body" sz="quarter" idx="12" hasCustomPrompt="1"/>
          </p:nvPr>
        </p:nvSpPr>
        <p:spPr bwMode="black">
          <a:xfrm>
            <a:off x="1117415" y="4987206"/>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10" name="Subtitle 2">
            <a:extLst>
              <a:ext uri="{FF2B5EF4-FFF2-40B4-BE49-F238E27FC236}">
                <a16:creationId xmlns:a16="http://schemas.microsoft.com/office/drawing/2014/main" id="{6B9F98FC-CFBA-A824-6F89-4572C86F1FDC}"/>
              </a:ext>
            </a:extLst>
          </p:cNvPr>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AI maturity case</a:t>
            </a:r>
          </a:p>
        </p:txBody>
      </p:sp>
      <p:sp>
        <p:nvSpPr>
          <p:cNvPr id="11" name="Title 1">
            <a:extLst>
              <a:ext uri="{FF2B5EF4-FFF2-40B4-BE49-F238E27FC236}">
                <a16:creationId xmlns:a16="http://schemas.microsoft.com/office/drawing/2014/main" id="{7F2F135D-9AD0-495A-B068-A88F650FC7A2}"/>
              </a:ext>
            </a:extLst>
          </p:cNvPr>
          <p:cNvSpPr>
            <a:spLocks noGrp="1"/>
          </p:cNvSpPr>
          <p:nvPr>
            <p:ph type="ctrTitle" hasCustomPrompt="1"/>
          </p:nvPr>
        </p:nvSpPr>
        <p:spPr bwMode="ltGray">
          <a:xfrm>
            <a:off x="1117415" y="1886242"/>
            <a:ext cx="6868800" cy="3138423"/>
          </a:xfrm>
          <a:prstGeom prst="rect">
            <a:avLst/>
          </a:prstGeom>
        </p:spPr>
        <p:txBody>
          <a:bodyPr vert="horz"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HexaBank </a:t>
            </a:r>
          </a:p>
        </p:txBody>
      </p:sp>
      <p:sp>
        <p:nvSpPr>
          <p:cNvPr id="12" name="ZoneTexte 11">
            <a:extLst>
              <a:ext uri="{FF2B5EF4-FFF2-40B4-BE49-F238E27FC236}">
                <a16:creationId xmlns:a16="http://schemas.microsoft.com/office/drawing/2014/main" id="{A424EEFB-C49C-E449-BED9-06BD248B29D2}"/>
              </a:ext>
            </a:extLst>
          </p:cNvPr>
          <p:cNvSpPr txBox="1"/>
          <p:nvPr userDrawn="1"/>
        </p:nvSpPr>
        <p:spPr>
          <a:xfrm>
            <a:off x="12487275" y="-357188"/>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fr-FR" dirty="0" err="1">
              <a:solidFill>
                <a:srgbClr val="575757"/>
              </a:solidFill>
            </a:endParaRPr>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2" name="TextBox 1">
            <a:extLst>
              <a:ext uri="{FF2B5EF4-FFF2-40B4-BE49-F238E27FC236}">
                <a16:creationId xmlns:a16="http://schemas.microsoft.com/office/drawing/2014/main" id="{2BAA4432-2568-F8E1-284B-893103D75D24}"/>
              </a:ext>
            </a:extLst>
          </p:cNvPr>
          <p:cNvSpPr txBox="1"/>
          <p:nvPr userDrawn="1"/>
        </p:nvSpPr>
        <p:spPr>
          <a:xfrm>
            <a:off x="971550" y="1457325"/>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0700033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rgbClr val="7D0D2D"/>
              </a:gs>
              <a:gs pos="100000">
                <a:srgbClr val="480B2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2018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2018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2018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2018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2018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2018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2018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0"/>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1" imgW="270" imgH="270" progId="TCLayout.ActiveDocument.1">
                  <p:embed/>
                </p:oleObj>
              </mc:Choice>
              <mc:Fallback>
                <p:oleObj name="think-cell Slide" r:id="rId71" imgW="270" imgH="270" progId="TCLayout.ActiveDocument.1">
                  <p:embed/>
                  <p:pic>
                    <p:nvPicPr>
                      <p:cNvPr id="0" name=""/>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Level six</a:t>
            </a:r>
          </a:p>
          <a:p>
            <a:pPr lvl="6"/>
            <a:r>
              <a:rPr lang="en-US" dirty="0"/>
              <a:t>Level seven</a:t>
            </a:r>
          </a:p>
          <a:p>
            <a:pPr lvl="7"/>
            <a:r>
              <a:rPr lang="en-US" dirty="0"/>
              <a:t>Level eight</a:t>
            </a:r>
          </a:p>
          <a:p>
            <a:pPr lvl="8"/>
            <a:r>
              <a:rPr lang="en-US" dirty="0"/>
              <a:t>Level nine</a:t>
            </a:r>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185" r:id="rId10"/>
    <p:sldLayoutId id="2147485087" r:id="rId11"/>
    <p:sldLayoutId id="2147485112" r:id="rId12"/>
    <p:sldLayoutId id="2147485155" r:id="rId13"/>
    <p:sldLayoutId id="2147485164" r:id="rId14"/>
    <p:sldLayoutId id="2147485109" r:id="rId15"/>
    <p:sldLayoutId id="2147485165" r:id="rId16"/>
    <p:sldLayoutId id="2147485110" r:id="rId17"/>
    <p:sldLayoutId id="2147485166" r:id="rId18"/>
    <p:sldLayoutId id="2147485156" r:id="rId19"/>
    <p:sldLayoutId id="2147485167" r:id="rId20"/>
    <p:sldLayoutId id="2147485108" r:id="rId21"/>
    <p:sldLayoutId id="2147485107" r:id="rId22"/>
    <p:sldLayoutId id="2147485106" r:id="rId23"/>
    <p:sldLayoutId id="2147485090" r:id="rId24"/>
    <p:sldLayoutId id="2147485091" r:id="rId25"/>
    <p:sldLayoutId id="2147485092" r:id="rId26"/>
    <p:sldLayoutId id="2147485093" r:id="rId27"/>
    <p:sldLayoutId id="2147485116" r:id="rId28"/>
    <p:sldLayoutId id="2147485161" r:id="rId29"/>
    <p:sldLayoutId id="2147485159" r:id="rId30"/>
    <p:sldLayoutId id="2147485119" r:id="rId31"/>
    <p:sldLayoutId id="2147485184" r:id="rId32"/>
    <p:sldLayoutId id="2147485137" r:id="rId33"/>
    <p:sldLayoutId id="2147485120" r:id="rId34"/>
    <p:sldLayoutId id="2147485121" r:id="rId35"/>
    <p:sldLayoutId id="2147485141" r:id="rId36"/>
    <p:sldLayoutId id="2147485163" r:id="rId37"/>
    <p:sldLayoutId id="2147485139" r:id="rId38"/>
    <p:sldLayoutId id="2147485140" r:id="rId39"/>
    <p:sldLayoutId id="2147485122" r:id="rId40"/>
    <p:sldLayoutId id="2147485123" r:id="rId41"/>
    <p:sldLayoutId id="2147485151" r:id="rId42"/>
    <p:sldLayoutId id="2147485168" r:id="rId43"/>
    <p:sldLayoutId id="2147485127" r:id="rId44"/>
    <p:sldLayoutId id="2147485169" r:id="rId45"/>
    <p:sldLayoutId id="2147485126" r:id="rId46"/>
    <p:sldLayoutId id="2147485170" r:id="rId47"/>
    <p:sldLayoutId id="2147485153" r:id="rId48"/>
    <p:sldLayoutId id="2147485171" r:id="rId49"/>
    <p:sldLayoutId id="2147485128" r:id="rId50"/>
    <p:sldLayoutId id="2147485129" r:id="rId51"/>
    <p:sldLayoutId id="2147485130" r:id="rId52"/>
    <p:sldLayoutId id="2147485131" r:id="rId53"/>
    <p:sldLayoutId id="2147485145" r:id="rId54"/>
    <p:sldLayoutId id="2147485133" r:id="rId55"/>
    <p:sldLayoutId id="2147485144" r:id="rId56"/>
    <p:sldLayoutId id="2147485134" r:id="rId57"/>
    <p:sldLayoutId id="2147485146" r:id="rId58"/>
    <p:sldLayoutId id="2147485160" r:id="rId59"/>
    <p:sldLayoutId id="2147485172" r:id="rId60"/>
    <p:sldLayoutId id="2147485173" r:id="rId61"/>
    <p:sldLayoutId id="2147485174" r:id="rId62"/>
    <p:sldLayoutId id="2147485175" r:id="rId63"/>
    <p:sldLayoutId id="2147485176" r:id="rId64"/>
    <p:sldLayoutId id="2147485177" r:id="rId65"/>
    <p:sldLayoutId id="2147485178" r:id="rId66"/>
    <p:sldLayoutId id="2147485179" r:id="rId67"/>
    <p:sldLayoutId id="2147485180" r:id="rId68"/>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1.xml"/><Relationship Id="rId7" Type="http://schemas.openxmlformats.org/officeDocument/2006/relationships/image" Target="../media/image12.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11.emf"/><Relationship Id="rId5" Type="http://schemas.openxmlformats.org/officeDocument/2006/relationships/oleObject" Target="../embeddings/oleObject16.bin"/><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Layout" Target="../slideLayouts/slideLayout31.xml"/><Relationship Id="rId7" Type="http://schemas.openxmlformats.org/officeDocument/2006/relationships/image" Target="../media/image14.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3.emf"/><Relationship Id="rId5" Type="http://schemas.openxmlformats.org/officeDocument/2006/relationships/oleObject" Target="../embeddings/oleObject17.bin"/><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4294967295"/>
          </p:nvPr>
        </p:nvSpPr>
        <p:spPr>
          <a:xfrm>
            <a:off x="1117415" y="6207842"/>
            <a:ext cx="6868800" cy="327148"/>
          </a:xfrm>
        </p:spPr>
        <p:txBody>
          <a:bodyPr/>
          <a:lstStyle/>
          <a:p>
            <a:r>
              <a:rPr lang="en-US" dirty="0"/>
              <a:t>Enzo BERREUR, Leo WEISS, Elea NIZAM, Camil NITEL</a:t>
            </a:r>
          </a:p>
        </p:txBody>
      </p:sp>
      <p:sp>
        <p:nvSpPr>
          <p:cNvPr id="2" name="Title 1"/>
          <p:cNvSpPr>
            <a:spLocks noGrp="1"/>
          </p:cNvSpPr>
          <p:nvPr>
            <p:ph type="ctrTitle"/>
          </p:nvPr>
        </p:nvSpPr>
        <p:spPr>
          <a:xfrm>
            <a:off x="987426" y="1886242"/>
            <a:ext cx="7484634" cy="3138423"/>
          </a:xfrm>
        </p:spPr>
        <p:txBody>
          <a:bodyPr>
            <a:normAutofit/>
          </a:bodyPr>
          <a:lstStyle/>
          <a:p>
            <a:r>
              <a:rPr lang="fr-FR" dirty="0"/>
              <a:t>HexaBank</a:t>
            </a:r>
            <a:endParaRPr lang="en-US" dirty="0"/>
          </a:p>
        </p:txBody>
      </p:sp>
      <p:sp>
        <p:nvSpPr>
          <p:cNvPr id="4" name="TextBox 3">
            <a:extLst>
              <a:ext uri="{FF2B5EF4-FFF2-40B4-BE49-F238E27FC236}">
                <a16:creationId xmlns:a16="http://schemas.microsoft.com/office/drawing/2014/main" id="{35989E96-B2F4-4D89-EDD5-BAF349031039}"/>
              </a:ext>
            </a:extLst>
          </p:cNvPr>
          <p:cNvSpPr txBox="1"/>
          <p:nvPr/>
        </p:nvSpPr>
        <p:spPr>
          <a:xfrm>
            <a:off x="2820692" y="991892"/>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6" name="TextBox 5">
            <a:extLst>
              <a:ext uri="{FF2B5EF4-FFF2-40B4-BE49-F238E27FC236}">
                <a16:creationId xmlns:a16="http://schemas.microsoft.com/office/drawing/2014/main" id="{98157101-CA62-ED1F-C8AE-A66014B21EAB}"/>
              </a:ext>
            </a:extLst>
          </p:cNvPr>
          <p:cNvSpPr txBox="1"/>
          <p:nvPr/>
        </p:nvSpPr>
        <p:spPr>
          <a:xfrm>
            <a:off x="1441342" y="573437"/>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7" name="TextBox 6">
            <a:extLst>
              <a:ext uri="{FF2B5EF4-FFF2-40B4-BE49-F238E27FC236}">
                <a16:creationId xmlns:a16="http://schemas.microsoft.com/office/drawing/2014/main" id="{F902BE47-D945-F72D-9D6F-0CCD77F96CD0}"/>
              </a:ext>
            </a:extLst>
          </p:cNvPr>
          <p:cNvSpPr txBox="1"/>
          <p:nvPr/>
        </p:nvSpPr>
        <p:spPr>
          <a:xfrm>
            <a:off x="898902" y="6075336"/>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9" name="TextBox 8">
            <a:extLst>
              <a:ext uri="{FF2B5EF4-FFF2-40B4-BE49-F238E27FC236}">
                <a16:creationId xmlns:a16="http://schemas.microsoft.com/office/drawing/2014/main" id="{66921B33-0155-4230-4F78-D8C2A1449506}"/>
              </a:ext>
            </a:extLst>
          </p:cNvPr>
          <p:cNvSpPr txBox="1"/>
          <p:nvPr/>
        </p:nvSpPr>
        <p:spPr>
          <a:xfrm>
            <a:off x="6761747" y="5526505"/>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10" name="TextBox 9">
            <a:extLst>
              <a:ext uri="{FF2B5EF4-FFF2-40B4-BE49-F238E27FC236}">
                <a16:creationId xmlns:a16="http://schemas.microsoft.com/office/drawing/2014/main" id="{A4851BA8-900A-3E0E-B052-5AD602AF5D99}"/>
              </a:ext>
            </a:extLst>
          </p:cNvPr>
          <p:cNvSpPr txBox="1"/>
          <p:nvPr/>
        </p:nvSpPr>
        <p:spPr>
          <a:xfrm>
            <a:off x="8229600" y="4211053"/>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11" name="TextBox 10">
            <a:extLst>
              <a:ext uri="{FF2B5EF4-FFF2-40B4-BE49-F238E27FC236}">
                <a16:creationId xmlns:a16="http://schemas.microsoft.com/office/drawing/2014/main" id="{56E412E5-2668-2722-1627-325931517EEE}"/>
              </a:ext>
            </a:extLst>
          </p:cNvPr>
          <p:cNvSpPr txBox="1"/>
          <p:nvPr/>
        </p:nvSpPr>
        <p:spPr>
          <a:xfrm>
            <a:off x="7740316" y="2935705"/>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3" name="Subtitle 3">
            <a:extLst>
              <a:ext uri="{FF2B5EF4-FFF2-40B4-BE49-F238E27FC236}">
                <a16:creationId xmlns:a16="http://schemas.microsoft.com/office/drawing/2014/main" id="{B6A511BC-5E09-85B3-7541-754722C0C417}"/>
              </a:ext>
            </a:extLst>
          </p:cNvPr>
          <p:cNvSpPr>
            <a:spLocks noGrp="1"/>
          </p:cNvSpPr>
          <p:nvPr>
            <p:ph type="subTitle" idx="1"/>
          </p:nvPr>
        </p:nvSpPr>
        <p:spPr>
          <a:xfrm>
            <a:off x="1117414" y="5495706"/>
            <a:ext cx="7354645" cy="436195"/>
          </a:xfrm>
        </p:spPr>
        <p:txBody>
          <a:bodyPr/>
          <a:lstStyle/>
          <a:p>
            <a:r>
              <a:rPr lang="en-GB" dirty="0"/>
              <a:t>AI Maturity Case</a:t>
            </a:r>
          </a:p>
        </p:txBody>
      </p:sp>
    </p:spTree>
    <p:extLst>
      <p:ext uri="{BB962C8B-B14F-4D97-AF65-F5344CB8AC3E}">
        <p14:creationId xmlns:p14="http://schemas.microsoft.com/office/powerpoint/2010/main" val="3783145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 name="Object 73"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74" name="Object 73"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630000" y="622800"/>
            <a:ext cx="10933350" cy="664797"/>
          </a:xfrm>
        </p:spPr>
        <p:txBody>
          <a:bodyPr/>
          <a:lstStyle/>
          <a:p>
            <a:r>
              <a:rPr lang="en-US" dirty="0">
                <a:solidFill>
                  <a:srgbClr val="1D3FC9"/>
                </a:solidFill>
              </a:rPr>
              <a:t>Early AI maturity with strategic intent but gaps in governance, MLOps, and measurement</a:t>
            </a:r>
          </a:p>
        </p:txBody>
      </p:sp>
      <p:grpSp>
        <p:nvGrpSpPr>
          <p:cNvPr id="11" name="Group 10"/>
          <p:cNvGrpSpPr/>
          <p:nvPr/>
        </p:nvGrpSpPr>
        <p:grpSpPr>
          <a:xfrm>
            <a:off x="8109909" y="2066927"/>
            <a:ext cx="1583622" cy="1969770"/>
            <a:chOff x="8109909" y="2066927"/>
            <a:chExt cx="1583622" cy="1969770"/>
          </a:xfrm>
        </p:grpSpPr>
        <p:sp>
          <p:nvSpPr>
            <p:cNvPr id="51" name="AutoShape 3"/>
            <p:cNvSpPr>
              <a:spLocks noChangeArrowheads="1"/>
            </p:cNvSpPr>
            <p:nvPr/>
          </p:nvSpPr>
          <p:spPr bwMode="gray">
            <a:xfrm>
              <a:off x="8109909" y="2066927"/>
              <a:ext cx="1583531" cy="307777"/>
            </a:xfrm>
            <a:prstGeom prst="rect">
              <a:avLst/>
            </a:prstGeom>
            <a:noFill/>
            <a:ln w="9525" algn="ctr">
              <a:noFill/>
              <a:miter lim="800000"/>
              <a:headEnd/>
              <a:tailEnd/>
            </a:ln>
            <a:extLst>
              <a:ext uri="{909E8E84-426E-40DD-AFC4-6F175D3DCCD1}">
                <a14:hiddenFill xmlns:a14="http://schemas.microsoft.com/office/drawing/2010/main">
                  <a:solidFill>
                    <a:srgbClr val="9A9A9A"/>
                  </a:solidFill>
                </a14:hiddenFill>
              </a:ext>
              <a:ext uri="{91240B29-F687-4F45-9708-019B960494DF}">
                <a14:hiddenLine xmlns:a14="http://schemas.microsoft.com/office/drawing/2010/main" w="9525" algn="ctr">
                  <a:solidFill>
                    <a:schemeClr val="bg1"/>
                  </a:solidFill>
                  <a:miter lim="800000"/>
                  <a:headEnd/>
                  <a:tailEnd/>
                </a14:hiddenLine>
              </a:ext>
            </a:extLst>
          </p:spPr>
          <p:txBody>
            <a:bodyPr lIns="0" tIns="45720" rIns="0" bIns="45720" anchor="ctr">
              <a:noAutofit/>
            </a:bodyPr>
            <a:lstStyle/>
            <a:p>
              <a:r>
                <a:rPr lang="en-US" sz="1400" dirty="0">
                  <a:solidFill>
                    <a:srgbClr val="1D3FC9"/>
                  </a:solidFill>
                  <a:cs typeface="Arial" pitchFamily="34" charset="0"/>
                </a:rPr>
                <a:t>Strenght</a:t>
              </a:r>
            </a:p>
          </p:txBody>
        </p:sp>
        <p:sp>
          <p:nvSpPr>
            <p:cNvPr id="46" name="Rectangle 45"/>
            <p:cNvSpPr/>
            <p:nvPr/>
          </p:nvSpPr>
          <p:spPr>
            <a:xfrm>
              <a:off x="8110000" y="2374704"/>
              <a:ext cx="1583531" cy="1661993"/>
            </a:xfrm>
            <a:prstGeom prst="rect">
              <a:avLst/>
            </a:prstGeom>
            <a:noFill/>
            <a:ln w="9525">
              <a:noFill/>
            </a:ln>
            <a:effectLst/>
            <a:extLst>
              <a:ext uri="{909E8E84-426E-40DD-AFC4-6F175D3DCCD1}">
                <a14:hiddenFill xmlns:a14="http://schemas.microsoft.com/office/drawing/2010/main">
                  <a:solidFill>
                    <a:srgbClr val="D2E0E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spAutoFit/>
            </a:bodyPr>
            <a:lstStyle/>
            <a:p>
              <a:r>
                <a:rPr lang="en-US" sz="1200" b="1" dirty="0">
                  <a:solidFill>
                    <a:srgbClr val="575757"/>
                  </a:solidFill>
                  <a:cs typeface="Arial" pitchFamily="34" charset="0"/>
                </a:rPr>
                <a:t>Strategy &amp; Value Alignment </a:t>
              </a:r>
            </a:p>
            <a:p>
              <a:r>
                <a:rPr lang="en-US" sz="1200" dirty="0">
                  <a:solidFill>
                    <a:srgbClr val="575757"/>
                  </a:solidFill>
                  <a:cs typeface="Arial" pitchFamily="34" charset="0"/>
                </a:rPr>
                <a:t>AI initiatives are at least connected to the business roadmap and selected KPIs, though links are still partial and not consistently codified</a:t>
              </a:r>
            </a:p>
          </p:txBody>
        </p:sp>
      </p:grpSp>
      <p:grpSp>
        <p:nvGrpSpPr>
          <p:cNvPr id="10" name="Group 9"/>
          <p:cNvGrpSpPr/>
          <p:nvPr/>
        </p:nvGrpSpPr>
        <p:grpSpPr>
          <a:xfrm>
            <a:off x="9979819" y="2066927"/>
            <a:ext cx="1583531" cy="1785105"/>
            <a:chOff x="9979819" y="2066927"/>
            <a:chExt cx="1583531" cy="1785105"/>
          </a:xfrm>
        </p:grpSpPr>
        <p:sp>
          <p:nvSpPr>
            <p:cNvPr id="47" name="Rectangle 46"/>
            <p:cNvSpPr/>
            <p:nvPr/>
          </p:nvSpPr>
          <p:spPr>
            <a:xfrm>
              <a:off x="9979819" y="2374704"/>
              <a:ext cx="1583531" cy="1477328"/>
            </a:xfrm>
            <a:prstGeom prst="rect">
              <a:avLst/>
            </a:prstGeom>
            <a:noFill/>
            <a:ln w="9525">
              <a:noFill/>
            </a:ln>
            <a:effectLst/>
            <a:extLst>
              <a:ext uri="{909E8E84-426E-40DD-AFC4-6F175D3DCCD1}">
                <a14:hiddenFill xmlns:a14="http://schemas.microsoft.com/office/drawing/2010/main">
                  <a:solidFill>
                    <a:srgbClr val="D8CEB8"/>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r>
                <a:rPr lang="en-US" sz="1200" b="1" dirty="0">
                  <a:solidFill>
                    <a:srgbClr val="575757"/>
                  </a:solidFill>
                  <a:cs typeface="Arial" pitchFamily="34" charset="0"/>
                </a:rPr>
                <a:t>Governance &amp; RAI / Measurement &amp; ROI</a:t>
              </a:r>
            </a:p>
            <a:p>
              <a:r>
                <a:rPr lang="en-US" sz="1200" dirty="0">
                  <a:solidFill>
                    <a:srgbClr val="575757"/>
                  </a:solidFill>
                  <a:cs typeface="Arial" pitchFamily="34" charset="0"/>
                </a:rPr>
                <a:t>AI risk governance and outcome measurement are fragmented or missing, limiting industrialization and stakeholder trust</a:t>
              </a:r>
            </a:p>
          </p:txBody>
        </p:sp>
        <p:sp>
          <p:nvSpPr>
            <p:cNvPr id="52" name="AutoShape 4"/>
            <p:cNvSpPr>
              <a:spLocks noChangeArrowheads="1"/>
            </p:cNvSpPr>
            <p:nvPr/>
          </p:nvSpPr>
          <p:spPr bwMode="gray">
            <a:xfrm>
              <a:off x="9979819" y="2066927"/>
              <a:ext cx="1583531" cy="307777"/>
            </a:xfrm>
            <a:prstGeom prst="rect">
              <a:avLst/>
            </a:prstGeom>
            <a:noFill/>
            <a:ln w="9525" algn="ctr">
              <a:noFill/>
              <a:miter lim="800000"/>
              <a:headEnd/>
              <a:tailEnd/>
            </a:ln>
            <a:extLst>
              <a:ext uri="{909E8E84-426E-40DD-AFC4-6F175D3DCCD1}">
                <a14:hiddenFill xmlns:a14="http://schemas.microsoft.com/office/drawing/2010/main">
                  <a:solidFill>
                    <a:srgbClr val="6E6F73"/>
                  </a:solidFill>
                </a14:hiddenFill>
              </a:ext>
              <a:ext uri="{91240B29-F687-4F45-9708-019B960494DF}">
                <a14:hiddenLine xmlns:a14="http://schemas.microsoft.com/office/drawing/2010/main" w="9525" algn="ctr">
                  <a:solidFill>
                    <a:schemeClr val="bg1"/>
                  </a:solidFill>
                  <a:miter lim="800000"/>
                  <a:headEnd/>
                  <a:tailEnd/>
                </a14:hiddenLine>
              </a:ext>
            </a:extLst>
          </p:spPr>
          <p:txBody>
            <a:bodyPr wrap="square" lIns="0" tIns="45720" rIns="0" bIns="45720" anchor="ctr">
              <a:noAutofit/>
            </a:bodyPr>
            <a:lstStyle/>
            <a:p>
              <a:r>
                <a:rPr lang="en-US" sz="1400" dirty="0">
                  <a:solidFill>
                    <a:srgbClr val="1D3FC9"/>
                  </a:solidFill>
                  <a:cs typeface="Arial" pitchFamily="34" charset="0"/>
                </a:rPr>
                <a:t>Weakness</a:t>
              </a:r>
            </a:p>
          </p:txBody>
        </p:sp>
      </p:grpSp>
      <p:grpSp>
        <p:nvGrpSpPr>
          <p:cNvPr id="14" name="Group 13"/>
          <p:cNvGrpSpPr/>
          <p:nvPr/>
        </p:nvGrpSpPr>
        <p:grpSpPr>
          <a:xfrm>
            <a:off x="9045766" y="4102433"/>
            <a:ext cx="1583531" cy="1785105"/>
            <a:chOff x="9045766" y="4102433"/>
            <a:chExt cx="1583531" cy="1785105"/>
          </a:xfrm>
        </p:grpSpPr>
        <p:sp>
          <p:nvSpPr>
            <p:cNvPr id="49" name="Rectangle 48"/>
            <p:cNvSpPr/>
            <p:nvPr/>
          </p:nvSpPr>
          <p:spPr>
            <a:xfrm>
              <a:off x="9045766" y="4410210"/>
              <a:ext cx="1583531" cy="1477328"/>
            </a:xfrm>
            <a:prstGeom prst="rect">
              <a:avLst/>
            </a:prstGeom>
            <a:noFill/>
            <a:ln w="9525">
              <a:noFill/>
            </a:ln>
            <a:effectLst/>
            <a:extLst>
              <a:ext uri="{909E8E84-426E-40DD-AFC4-6F175D3DCCD1}">
                <a14:hiddenFill xmlns:a14="http://schemas.microsoft.com/office/drawing/2010/main">
                  <a:solidFill>
                    <a:srgbClr val="E7C7C7"/>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spAutoFit/>
            </a:bodyPr>
            <a:lstStyle/>
            <a:p>
              <a:r>
                <a:rPr lang="fr-FR" sz="1200" b="1">
                  <a:solidFill>
                    <a:srgbClr val="575757"/>
                  </a:solidFill>
                  <a:cs typeface="Arial" pitchFamily="34" charset="0"/>
                </a:rPr>
                <a:t>Overall Readiness </a:t>
              </a:r>
              <a:r>
                <a:rPr lang="fr-FR" sz="1200">
                  <a:solidFill>
                    <a:srgbClr val="575757"/>
                  </a:solidFill>
                  <a:cs typeface="Arial" pitchFamily="34" charset="0"/>
                </a:rPr>
                <a:t>Sponsorship and risk appetite appear present but are insufficiently documented; clarify budget, mandate, and model-risk tolerance</a:t>
              </a:r>
              <a:endParaRPr lang="en-US" sz="1200" dirty="0">
                <a:solidFill>
                  <a:srgbClr val="575757"/>
                </a:solidFill>
                <a:cs typeface="Arial" pitchFamily="34" charset="0"/>
              </a:endParaRPr>
            </a:p>
          </p:txBody>
        </p:sp>
        <p:sp>
          <p:nvSpPr>
            <p:cNvPr id="54" name="AutoShape 6"/>
            <p:cNvSpPr>
              <a:spLocks noChangeArrowheads="1"/>
            </p:cNvSpPr>
            <p:nvPr/>
          </p:nvSpPr>
          <p:spPr bwMode="gray">
            <a:xfrm>
              <a:off x="9045766" y="4102433"/>
              <a:ext cx="1583531" cy="307777"/>
            </a:xfrm>
            <a:prstGeom prst="rect">
              <a:avLst/>
            </a:prstGeom>
            <a:noFill/>
            <a:ln w="9525" algn="ctr">
              <a:noFill/>
              <a:miter lim="800000"/>
              <a:headEnd/>
              <a:tailEnd/>
            </a:ln>
            <a:extLst>
              <a:ext uri="{909E8E84-426E-40DD-AFC4-6F175D3DCCD1}">
                <a14:hiddenFill xmlns:a14="http://schemas.microsoft.com/office/drawing/2010/main">
                  <a:solidFill>
                    <a:srgbClr val="3EAD92"/>
                  </a:solidFill>
                </a14:hiddenFill>
              </a:ext>
              <a:ext uri="{91240B29-F687-4F45-9708-019B960494DF}">
                <a14:hiddenLine xmlns:a14="http://schemas.microsoft.com/office/drawing/2010/main" w="9525" algn="ctr">
                  <a:solidFill>
                    <a:schemeClr val="bg1"/>
                  </a:solidFill>
                  <a:miter lim="800000"/>
                  <a:headEnd/>
                  <a:tailEnd/>
                </a14:hiddenLine>
              </a:ext>
            </a:extLst>
          </p:spPr>
          <p:txBody>
            <a:bodyPr wrap="none" lIns="0" tIns="45720" rIns="0" bIns="45720" anchor="ctr">
              <a:noAutofit/>
            </a:bodyPr>
            <a:lstStyle/>
            <a:p>
              <a:pPr>
                <a:lnSpc>
                  <a:spcPct val="90000"/>
                </a:lnSpc>
              </a:pPr>
              <a:r>
                <a:rPr lang="en-US" sz="1400" dirty="0">
                  <a:solidFill>
                    <a:srgbClr val="1D3FC9"/>
                  </a:solidFill>
                  <a:cs typeface="Arial" pitchFamily="34" charset="0"/>
                </a:rPr>
                <a:t>Low-confidence area</a:t>
              </a:r>
            </a:p>
          </p:txBody>
        </p:sp>
      </p:grpSp>
      <p:grpSp>
        <p:nvGrpSpPr>
          <p:cNvPr id="6" name="Group 5"/>
          <p:cNvGrpSpPr/>
          <p:nvPr/>
        </p:nvGrpSpPr>
        <p:grpSpPr>
          <a:xfrm>
            <a:off x="6859056" y="2081213"/>
            <a:ext cx="306171" cy="4078287"/>
            <a:chOff x="5473013" y="2081213"/>
            <a:chExt cx="306171" cy="4078287"/>
          </a:xfrm>
        </p:grpSpPr>
        <p:cxnSp>
          <p:nvCxnSpPr>
            <p:cNvPr id="56" name="Straight Connector 55"/>
            <p:cNvCxnSpPr/>
            <p:nvPr/>
          </p:nvCxnSpPr>
          <p:spPr>
            <a:xfrm>
              <a:off x="5626099" y="2081213"/>
              <a:ext cx="0" cy="4078287"/>
            </a:xfrm>
            <a:prstGeom prst="line">
              <a:avLst/>
            </a:prstGeom>
            <a:ln w="9525" cap="rnd">
              <a:solidFill>
                <a:srgbClr val="9A9A9A"/>
              </a:solidFill>
              <a:prstDash val="solid"/>
            </a:ln>
          </p:spPr>
          <p:style>
            <a:lnRef idx="1">
              <a:schemeClr val="accent1"/>
            </a:lnRef>
            <a:fillRef idx="0">
              <a:schemeClr val="accent1"/>
            </a:fillRef>
            <a:effectRef idx="0">
              <a:schemeClr val="accent1"/>
            </a:effectRef>
            <a:fontRef idx="minor">
              <a:schemeClr val="tx1"/>
            </a:fontRef>
          </p:style>
        </p:cxnSp>
        <p:grpSp>
          <p:nvGrpSpPr>
            <p:cNvPr id="57" name="Group 56"/>
            <p:cNvGrpSpPr/>
            <p:nvPr/>
          </p:nvGrpSpPr>
          <p:grpSpPr>
            <a:xfrm>
              <a:off x="5473013" y="3966902"/>
              <a:ext cx="306171" cy="306910"/>
              <a:chOff x="5942914" y="3833745"/>
              <a:chExt cx="306171" cy="306910"/>
            </a:xfrm>
          </p:grpSpPr>
          <p:sp>
            <p:nvSpPr>
              <p:cNvPr id="58" name="Freeform 94"/>
              <p:cNvSpPr>
                <a:spLocks/>
              </p:cNvSpPr>
              <p:nvPr/>
            </p:nvSpPr>
            <p:spPr bwMode="gray">
              <a:xfrm>
                <a:off x="594291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D3FC9"/>
              </a:solidFill>
              <a:ln>
                <a:noFill/>
              </a:ln>
            </p:spPr>
            <p:txBody>
              <a:bodyPr vert="horz" wrap="square" lIns="88641" tIns="44321" rIns="88641" bIns="44321" numCol="1" anchor="t" anchorCtr="0" compatLnSpc="1">
                <a:prstTxWarp prst="textNoShape">
                  <a:avLst/>
                </a:prstTxWarp>
              </a:bodyPr>
              <a:lstStyle/>
              <a:p>
                <a:endParaRPr lang="en-US" dirty="0">
                  <a:solidFill>
                    <a:srgbClr val="6E6F73"/>
                  </a:solidFill>
                </a:endParaRPr>
              </a:p>
            </p:txBody>
          </p:sp>
          <p:sp>
            <p:nvSpPr>
              <p:cNvPr id="59" name="Freeform 95"/>
              <p:cNvSpPr>
                <a:spLocks/>
              </p:cNvSpPr>
              <p:nvPr/>
            </p:nvSpPr>
            <p:spPr bwMode="gray">
              <a:xfrm>
                <a:off x="605934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8641" tIns="44321" rIns="88641" bIns="44321" numCol="1" anchor="t" anchorCtr="0" compatLnSpc="1">
                <a:prstTxWarp prst="textNoShape">
                  <a:avLst/>
                </a:prstTxWarp>
              </a:bodyPr>
              <a:lstStyle/>
              <a:p>
                <a:endParaRPr lang="en-US" dirty="0">
                  <a:solidFill>
                    <a:srgbClr val="6E6F73"/>
                  </a:solidFill>
                </a:endParaRPr>
              </a:p>
            </p:txBody>
          </p:sp>
        </p:grpSp>
      </p:grpSp>
      <p:pic>
        <p:nvPicPr>
          <p:cNvPr id="5" name="Picture 4">
            <a:extLst>
              <a:ext uri="{FF2B5EF4-FFF2-40B4-BE49-F238E27FC236}">
                <a16:creationId xmlns:a16="http://schemas.microsoft.com/office/drawing/2014/main" id="{7AF735FF-E959-2F74-7351-1FCEB1EAE93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8856"/>
          <a:stretch>
            <a:fillRect/>
          </a:stretch>
        </p:blipFill>
        <p:spPr bwMode="auto">
          <a:xfrm>
            <a:off x="628650" y="1695801"/>
            <a:ext cx="5755037" cy="462672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3129988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3" name="Objec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hidden="1"/>
          <p:cNvSpPr/>
          <p:nvPr>
            <p:custDataLst>
              <p:tags r:id="rId2"/>
            </p:custDataLst>
          </p:nvPr>
        </p:nvSpPr>
        <p:spPr bwMode="gray">
          <a:xfrm>
            <a:off x="0" y="0"/>
            <a:ext cx="158750" cy="158750"/>
          </a:xfrm>
          <a:prstGeom prst="rect">
            <a:avLst/>
          </a:prstGeom>
          <a:solidFill>
            <a:schemeClr val="accent1"/>
          </a:solid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en-US" sz="1200" dirty="0">
              <a:solidFill>
                <a:srgbClr val="000000"/>
              </a:solidFill>
              <a:latin typeface="Trebuchet MS" panose="020B0603020202020204" pitchFamily="34" charset="0"/>
              <a:sym typeface="Trebuchet MS" panose="020B0603020202020204" pitchFamily="34" charset="0"/>
            </a:endParaRPr>
          </a:p>
        </p:txBody>
      </p:sp>
      <p:sp>
        <p:nvSpPr>
          <p:cNvPr id="2" name="Title 1"/>
          <p:cNvSpPr>
            <a:spLocks noGrp="1"/>
          </p:cNvSpPr>
          <p:nvPr>
            <p:ph type="title"/>
          </p:nvPr>
        </p:nvSpPr>
        <p:spPr>
          <a:xfrm>
            <a:off x="630000" y="622800"/>
            <a:ext cx="10933350" cy="664797"/>
          </a:xfrm>
        </p:spPr>
        <p:txBody>
          <a:bodyPr/>
          <a:lstStyle/>
          <a:p>
            <a:r>
              <a:rPr lang="en-US" dirty="0">
                <a:solidFill>
                  <a:srgbClr val="1D3FC9"/>
                </a:solidFill>
              </a:rPr>
              <a:t>Regulatory Copilot is compliant by design, high-ROI, low-friction, the practical first step before complex AI</a:t>
            </a:r>
          </a:p>
        </p:txBody>
      </p:sp>
      <p:grpSp>
        <p:nvGrpSpPr>
          <p:cNvPr id="731" name="Group 730"/>
          <p:cNvGrpSpPr/>
          <p:nvPr/>
        </p:nvGrpSpPr>
        <p:grpSpPr>
          <a:xfrm>
            <a:off x="6373207" y="2060923"/>
            <a:ext cx="306171" cy="3943483"/>
            <a:chOff x="5938164" y="2060923"/>
            <a:chExt cx="306171" cy="3943483"/>
          </a:xfrm>
        </p:grpSpPr>
        <p:cxnSp>
          <p:nvCxnSpPr>
            <p:cNvPr id="732" name="Straight Connector 731"/>
            <p:cNvCxnSpPr>
              <a:cxnSpLocks/>
            </p:cNvCxnSpPr>
            <p:nvPr/>
          </p:nvCxnSpPr>
          <p:spPr>
            <a:xfrm>
              <a:off x="6091249" y="2060923"/>
              <a:ext cx="0" cy="3943483"/>
            </a:xfrm>
            <a:prstGeom prst="line">
              <a:avLst/>
            </a:prstGeom>
            <a:ln w="9525" cap="rnd">
              <a:solidFill>
                <a:srgbClr val="9A9A9A"/>
              </a:solidFill>
              <a:prstDash val="solid"/>
            </a:ln>
          </p:spPr>
          <p:style>
            <a:lnRef idx="1">
              <a:schemeClr val="accent1"/>
            </a:lnRef>
            <a:fillRef idx="0">
              <a:schemeClr val="accent1"/>
            </a:fillRef>
            <a:effectRef idx="0">
              <a:schemeClr val="accent1"/>
            </a:effectRef>
            <a:fontRef idx="minor">
              <a:schemeClr val="tx1"/>
            </a:fontRef>
          </p:style>
        </p:cxnSp>
        <p:grpSp>
          <p:nvGrpSpPr>
            <p:cNvPr id="733" name="Group 732"/>
            <p:cNvGrpSpPr/>
            <p:nvPr/>
          </p:nvGrpSpPr>
          <p:grpSpPr>
            <a:xfrm>
              <a:off x="5938164" y="3833745"/>
              <a:ext cx="306171" cy="306910"/>
              <a:chOff x="5942914" y="3833745"/>
              <a:chExt cx="306171" cy="306910"/>
            </a:xfrm>
          </p:grpSpPr>
          <p:sp>
            <p:nvSpPr>
              <p:cNvPr id="734" name="Freeform 94"/>
              <p:cNvSpPr>
                <a:spLocks/>
              </p:cNvSpPr>
              <p:nvPr/>
            </p:nvSpPr>
            <p:spPr bwMode="gray">
              <a:xfrm>
                <a:off x="594291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D3FC9"/>
              </a:solidFill>
              <a:ln>
                <a:noFill/>
              </a:ln>
            </p:spPr>
            <p:txBody>
              <a:bodyPr vert="horz" wrap="square" lIns="88641" tIns="44321" rIns="88641" bIns="44321" numCol="1" anchor="t" anchorCtr="0" compatLnSpc="1">
                <a:prstTxWarp prst="textNoShape">
                  <a:avLst/>
                </a:prstTxWarp>
              </a:bodyPr>
              <a:lstStyle/>
              <a:p>
                <a:endParaRPr lang="en-US" dirty="0">
                  <a:solidFill>
                    <a:srgbClr val="1D3FC9"/>
                  </a:solidFill>
                </a:endParaRPr>
              </a:p>
            </p:txBody>
          </p:sp>
          <p:sp>
            <p:nvSpPr>
              <p:cNvPr id="735" name="Freeform 95"/>
              <p:cNvSpPr>
                <a:spLocks/>
              </p:cNvSpPr>
              <p:nvPr/>
            </p:nvSpPr>
            <p:spPr bwMode="gray">
              <a:xfrm>
                <a:off x="605934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8641" tIns="44321" rIns="88641" bIns="44321" numCol="1" anchor="t" anchorCtr="0" compatLnSpc="1">
                <a:prstTxWarp prst="textNoShape">
                  <a:avLst/>
                </a:prstTxWarp>
              </a:bodyPr>
              <a:lstStyle/>
              <a:p>
                <a:endParaRPr lang="en-US" dirty="0">
                  <a:solidFill>
                    <a:srgbClr val="6E6F73"/>
                  </a:solidFill>
                </a:endParaRPr>
              </a:p>
            </p:txBody>
          </p:sp>
        </p:grpSp>
      </p:grpSp>
      <p:pic>
        <p:nvPicPr>
          <p:cNvPr id="4098" name="Picture 2">
            <a:extLst>
              <a:ext uri="{FF2B5EF4-FFF2-40B4-BE49-F238E27FC236}">
                <a16:creationId xmlns:a16="http://schemas.microsoft.com/office/drawing/2014/main" id="{D094EDD9-C8F8-AB7C-C5A1-EAB8D0BCEA1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33793" y="2405408"/>
            <a:ext cx="4033268" cy="403326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6" name="table_type_name">
            <a:extLst>
              <a:ext uri="{FF2B5EF4-FFF2-40B4-BE49-F238E27FC236}">
                <a16:creationId xmlns:a16="http://schemas.microsoft.com/office/drawing/2014/main" id="{A1B44D1A-1009-EA99-BA90-DCFB386E67AA}"/>
              </a:ext>
            </a:extLst>
          </p:cNvPr>
          <p:cNvGraphicFramePr>
            <a:graphicFrameLocks noGrp="1"/>
          </p:cNvGraphicFramePr>
          <p:nvPr>
            <p:extLst>
              <p:ext uri="{D42A27DB-BD31-4B8C-83A1-F6EECF244321}">
                <p14:modId xmlns:p14="http://schemas.microsoft.com/office/powerpoint/2010/main" val="2453908101"/>
              </p:ext>
            </p:extLst>
          </p:nvPr>
        </p:nvGraphicFramePr>
        <p:xfrm>
          <a:off x="630000" y="2636980"/>
          <a:ext cx="5188792" cy="2159351"/>
        </p:xfrm>
        <a:graphic>
          <a:graphicData uri="http://schemas.openxmlformats.org/drawingml/2006/table">
            <a:tbl>
              <a:tblPr/>
              <a:tblGrid>
                <a:gridCol w="1149490">
                  <a:extLst>
                    <a:ext uri="{9D8B030D-6E8A-4147-A177-3AD203B41FA5}">
                      <a16:colId xmlns:a16="http://schemas.microsoft.com/office/drawing/2014/main" val="20000"/>
                    </a:ext>
                  </a:extLst>
                </a:gridCol>
                <a:gridCol w="4039302">
                  <a:extLst>
                    <a:ext uri="{9D8B030D-6E8A-4147-A177-3AD203B41FA5}">
                      <a16:colId xmlns:a16="http://schemas.microsoft.com/office/drawing/2014/main" val="20002"/>
                    </a:ext>
                  </a:extLst>
                </a:gridCol>
              </a:tblGrid>
              <a:tr h="330551">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1D3FC9"/>
                          </a:solidFill>
                          <a:effectLst/>
                          <a:latin typeface="Trebuchet MS" panose="020B0603020202020204" pitchFamily="34" charset="0"/>
                          <a:cs typeface="Arial" charset="0"/>
                          <a:sym typeface="Trebuchet MS" panose="020B0603020202020204" pitchFamily="34" charset="0"/>
                        </a:rPr>
                        <a:t>Use case</a:t>
                      </a:r>
                    </a:p>
                  </a:txBody>
                  <a:tcPr marL="0" marR="274320" marT="36000" marB="36000" anchor="b" horzOverflow="overflow">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600" b="0" i="0" u="none" strike="noStrike" kern="1200" cap="none" spc="0" normalizeH="0" baseline="0" dirty="0">
                          <a:ln>
                            <a:noFill/>
                          </a:ln>
                          <a:solidFill>
                            <a:srgbClr val="1D3FC9"/>
                          </a:solidFill>
                          <a:effectLst/>
                          <a:latin typeface="Trebuchet MS" panose="020B0603020202020204" pitchFamily="34" charset="0"/>
                          <a:cs typeface="Arial" charset="0"/>
                          <a:sym typeface="Trebuchet MS" panose="020B0603020202020204" pitchFamily="34" charset="0"/>
                        </a:rPr>
                        <a:t>Project description</a:t>
                      </a:r>
                    </a:p>
                  </a:txBody>
                  <a:tcPr marL="0" marR="0" marT="36000" marB="36000" anchor="b" horzOverflow="overflow">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1765">
                <a:tc>
                  <a:txBody>
                    <a:bodyPr/>
                    <a:lstStyle/>
                    <a:p>
                      <a:pPr marL="0" lvl="0" indent="0" algn="r" defTabSz="914400" rtl="0" eaLnBrk="1" latinLnBrk="0" hangingPunct="1">
                        <a:lnSpc>
                          <a:spcPct val="100000"/>
                        </a:lnSpc>
                        <a:spcBef>
                          <a:spcPts val="0"/>
                        </a:spcBef>
                        <a:spcAft>
                          <a:spcPts val="0"/>
                        </a:spcAft>
                        <a:buClrTx/>
                        <a:buSzPct val="100000"/>
                        <a:buFont typeface="Trebuchet MS" panose="020B0603020202020204" pitchFamily="34" charset="0"/>
                        <a:buChar char="​"/>
                      </a:pPr>
                      <a:r>
                        <a:rPr lang="en-US" sz="1200" b="0" i="0" u="none" kern="1200" spc="0" dirty="0">
                          <a:solidFill>
                            <a:schemeClr val="tx1">
                              <a:lumMod val="100000"/>
                            </a:schemeClr>
                          </a:solidFill>
                          <a:effectLst/>
                          <a:latin typeface="Trebuchet MS" panose="020B0603020202020204" pitchFamily="34" charset="0"/>
                          <a:ea typeface="+mn-ea"/>
                          <a:cs typeface="Arial" panose="020B0604020202020204" pitchFamily="34" charset="0"/>
                        </a:rPr>
                        <a:t>Regulatory Copilot</a:t>
                      </a:r>
                      <a:endParaRPr lang="en-US" sz="1200" b="0" i="0" u="none" kern="1200" spc="0" dirty="0">
                        <a:solidFill>
                          <a:schemeClr val="tx1">
                            <a:lumMod val="100000"/>
                          </a:schemeClr>
                        </a:solidFill>
                        <a:effectLst/>
                        <a:latin typeface="Trebuchet MS" panose="020B0603020202020204" pitchFamily="34" charset="0"/>
                      </a:endParaRPr>
                    </a:p>
                  </a:txBody>
                  <a:tcPr marL="0" marR="274320" marT="91440" marB="91440" horzOverflow="overflow">
                    <a:lnL>
                      <a:noFill/>
                    </a:lnL>
                    <a:lnR>
                      <a:noFill/>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0" lvl="0" indent="0" algn="l" defTabSz="914400" rtl="0" eaLnBrk="1" latinLnBrk="0" hangingPunct="1">
                        <a:lnSpc>
                          <a:spcPct val="100000"/>
                        </a:lnSpc>
                        <a:spcBef>
                          <a:spcPts val="0"/>
                        </a:spcBef>
                        <a:spcAft>
                          <a:spcPts val="0"/>
                        </a:spcAft>
                        <a:buClrTx/>
                        <a:buSzPct val="100000"/>
                        <a:buFont typeface="Trebuchet MS" panose="020B0603020202020204" pitchFamily="34" charset="0"/>
                        <a:buChar char="​"/>
                      </a:pPr>
                      <a:r>
                        <a:rPr lang="en-US" sz="1200" b="0" i="0" u="none" kern="1200" spc="0" dirty="0">
                          <a:solidFill>
                            <a:srgbClr val="1D3FC9"/>
                          </a:solidFill>
                          <a:effectLst/>
                          <a:latin typeface="Trebuchet MS" panose="020B0603020202020204" pitchFamily="34" charset="0"/>
                          <a:ea typeface="+mn-ea"/>
                          <a:cs typeface="Arial" panose="020B0604020202020204" pitchFamily="34" charset="0"/>
                        </a:rPr>
                        <a:t>Turn new ACPR/ECB/EU AI Act rules into action</a:t>
                      </a:r>
                    </a:p>
                    <a:p>
                      <a:pPr marL="0" lvl="0" indent="0" algn="l" defTabSz="914400" rtl="0" eaLnBrk="1" latinLnBrk="0" hangingPunct="1">
                        <a:lnSpc>
                          <a:spcPct val="100000"/>
                        </a:lnSpc>
                        <a:spcBef>
                          <a:spcPts val="0"/>
                        </a:spcBef>
                        <a:spcAft>
                          <a:spcPts val="0"/>
                        </a:spcAft>
                        <a:buClrTx/>
                        <a:buSzPct val="100000"/>
                        <a:buFont typeface="Trebuchet MS" panose="020B0603020202020204" pitchFamily="34" charset="0"/>
                        <a:buChar char="​"/>
                      </a:pPr>
                      <a:r>
                        <a:rPr lang="en-US" sz="1200" b="0" i="0" u="none" kern="1200" spc="0" dirty="0">
                          <a:solidFill>
                            <a:schemeClr val="tx1">
                              <a:lumMod val="100000"/>
                            </a:schemeClr>
                          </a:solidFill>
                          <a:effectLst/>
                          <a:latin typeface="Trebuchet MS" panose="020B0603020202020204" pitchFamily="34" charset="0"/>
                          <a:ea typeface="+mn-ea"/>
                          <a:cs typeface="Arial" panose="020B0604020202020204" pitchFamily="34" charset="0"/>
                        </a:rPr>
                        <a:t>an internal assistant that interprets regulations, aligns them to HexaBank’s controls, drafts compliance updates, and highlights non-conformities with concrete doc changes</a:t>
                      </a:r>
                      <a:endParaRPr lang="en-US" sz="1200" b="0" i="0" u="none" kern="1200" spc="0" dirty="0">
                        <a:solidFill>
                          <a:schemeClr val="tx1">
                            <a:lumMod val="100000"/>
                          </a:schemeClr>
                        </a:solidFill>
                        <a:effectLst/>
                        <a:latin typeface="Trebuchet MS" panose="020B0603020202020204" pitchFamily="34" charset="0"/>
                      </a:endParaRPr>
                    </a:p>
                  </a:txBody>
                  <a:tcPr marL="0" marR="0" marT="91440" marB="91440" horzOverflow="overflow">
                    <a:lnL>
                      <a:noFill/>
                    </a:lnL>
                    <a:lnR>
                      <a:noFill/>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61765">
                <a:tc>
                  <a:txBody>
                    <a:bodyPr/>
                    <a:lstStyle/>
                    <a:p>
                      <a:pPr marL="0" lvl="0" indent="0" algn="r" defTabSz="914400" rtl="0" eaLnBrk="1" latinLnBrk="0" hangingPunct="1">
                        <a:lnSpc>
                          <a:spcPct val="100000"/>
                        </a:lnSpc>
                        <a:spcBef>
                          <a:spcPts val="0"/>
                        </a:spcBef>
                        <a:spcAft>
                          <a:spcPts val="0"/>
                        </a:spcAft>
                        <a:buClrTx/>
                        <a:buSzPct val="100000"/>
                        <a:buFont typeface="Trebuchet MS" panose="020B0603020202020204" pitchFamily="34" charset="0"/>
                        <a:buChar char="​"/>
                      </a:pPr>
                      <a:r>
                        <a:rPr lang="en-US" sz="1200" b="0" i="0" u="none" kern="1200" spc="0" dirty="0">
                          <a:solidFill>
                            <a:schemeClr val="tx1">
                              <a:lumMod val="100000"/>
                            </a:schemeClr>
                          </a:solidFill>
                          <a:effectLst/>
                          <a:latin typeface="Trebuchet MS" panose="020B0603020202020204" pitchFamily="34" charset="0"/>
                        </a:rPr>
                        <a:t>Credit Advisor Assistant</a:t>
                      </a:r>
                    </a:p>
                  </a:txBody>
                  <a:tcPr marL="0" marR="274320" marT="91440" marB="91440" horzOverflow="overflow">
                    <a:lnL>
                      <a:noFill/>
                    </a:lnL>
                    <a:lnR>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0" lvl="0" indent="0" algn="l" defTabSz="914400" rtl="0" eaLnBrk="1" latinLnBrk="0" hangingPunct="1">
                        <a:lnSpc>
                          <a:spcPct val="100000"/>
                        </a:lnSpc>
                        <a:spcBef>
                          <a:spcPts val="0"/>
                        </a:spcBef>
                        <a:spcAft>
                          <a:spcPts val="0"/>
                        </a:spcAft>
                        <a:buClrTx/>
                        <a:buSzPct val="100000"/>
                        <a:buFont typeface="Trebuchet MS" panose="020B0603020202020204" pitchFamily="34" charset="0"/>
                        <a:buChar char="​"/>
                      </a:pPr>
                      <a:r>
                        <a:rPr lang="en-US" sz="1200" b="0" i="0" u="none" kern="1200" spc="0" dirty="0">
                          <a:solidFill>
                            <a:srgbClr val="1D3FC9"/>
                          </a:solidFill>
                          <a:effectLst/>
                          <a:latin typeface="Trebuchet MS" panose="020B0603020202020204" pitchFamily="34" charset="0"/>
                        </a:rPr>
                        <a:t>Deliver faster, clearer credit decisions</a:t>
                      </a:r>
                    </a:p>
                    <a:p>
                      <a:pPr marL="0" lvl="0" indent="0" algn="l" defTabSz="914400" rtl="0" eaLnBrk="1" latinLnBrk="0" hangingPunct="1">
                        <a:lnSpc>
                          <a:spcPct val="100000"/>
                        </a:lnSpc>
                        <a:spcBef>
                          <a:spcPts val="0"/>
                        </a:spcBef>
                        <a:spcAft>
                          <a:spcPts val="0"/>
                        </a:spcAft>
                        <a:buClrTx/>
                        <a:buSzPct val="100000"/>
                        <a:buFont typeface="Trebuchet MS" panose="020B0603020202020204" pitchFamily="34" charset="0"/>
                        <a:buChar char="​"/>
                      </a:pPr>
                      <a:r>
                        <a:rPr lang="en-US" sz="1200" b="0" i="0" u="none" kern="1200" spc="0" dirty="0">
                          <a:solidFill>
                            <a:schemeClr val="tx1">
                              <a:lumMod val="100000"/>
                            </a:schemeClr>
                          </a:solidFill>
                          <a:effectLst/>
                          <a:latin typeface="Trebuchet MS" panose="020B0603020202020204" pitchFamily="34" charset="0"/>
                        </a:rPr>
                        <a:t>a copilot that condenses client financials/risk/docs and drafts explainable credit memos or renewal notes—analysts review and submit</a:t>
                      </a:r>
                    </a:p>
                  </a:txBody>
                  <a:tcPr marL="0" marR="0" marT="91440" marB="91440" horzOverflow="overflow">
                    <a:lnL>
                      <a:noFill/>
                    </a:lnL>
                    <a:lnR>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pic>
        <p:nvPicPr>
          <p:cNvPr id="61" name="Image 60">
            <a:extLst>
              <a:ext uri="{FF2B5EF4-FFF2-40B4-BE49-F238E27FC236}">
                <a16:creationId xmlns:a16="http://schemas.microsoft.com/office/drawing/2014/main" id="{A94B68AD-CF7E-317B-F0CF-951D33F5AAAF}"/>
              </a:ext>
            </a:extLst>
          </p:cNvPr>
          <p:cNvPicPr>
            <a:picLocks noChangeAspect="1"/>
          </p:cNvPicPr>
          <p:nvPr/>
        </p:nvPicPr>
        <p:blipFill>
          <a:blip r:embed="rId8"/>
          <a:srcRect r="1688"/>
          <a:stretch>
            <a:fillRect/>
          </a:stretch>
        </p:blipFill>
        <p:spPr>
          <a:xfrm>
            <a:off x="7561237" y="1631139"/>
            <a:ext cx="3643287" cy="859567"/>
          </a:xfrm>
          <a:prstGeom prst="rect">
            <a:avLst/>
          </a:prstGeom>
        </p:spPr>
      </p:pic>
    </p:spTree>
    <p:extLst>
      <p:ext uri="{BB962C8B-B14F-4D97-AF65-F5344CB8AC3E}">
        <p14:creationId xmlns:p14="http://schemas.microsoft.com/office/powerpoint/2010/main" val="248843438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200" cy="332399"/>
          </a:xfrm>
        </p:spPr>
        <p:txBody>
          <a:bodyPr/>
          <a:lstStyle/>
          <a:p>
            <a:r>
              <a:rPr lang="en-US" sz="2400" dirty="0">
                <a:solidFill>
                  <a:srgbClr val="1D3FC9"/>
                </a:solidFill>
              </a:rPr>
              <a:t>Chosen framework: NIST AI risk management framework (RMF)</a:t>
            </a:r>
          </a:p>
        </p:txBody>
      </p:sp>
      <p:grpSp>
        <p:nvGrpSpPr>
          <p:cNvPr id="11" name="Group 10"/>
          <p:cNvGrpSpPr/>
          <p:nvPr/>
        </p:nvGrpSpPr>
        <p:grpSpPr>
          <a:xfrm>
            <a:off x="5938164" y="1792739"/>
            <a:ext cx="306171" cy="3943483"/>
            <a:chOff x="5938164" y="2060923"/>
            <a:chExt cx="306171" cy="3943483"/>
          </a:xfrm>
        </p:grpSpPr>
        <p:cxnSp>
          <p:nvCxnSpPr>
            <p:cNvPr id="12" name="Straight Connector 11"/>
            <p:cNvCxnSpPr/>
            <p:nvPr/>
          </p:nvCxnSpPr>
          <p:spPr>
            <a:xfrm>
              <a:off x="6091249" y="2060923"/>
              <a:ext cx="0" cy="3943483"/>
            </a:xfrm>
            <a:prstGeom prst="line">
              <a:avLst/>
            </a:prstGeom>
            <a:ln w="9525" cap="rnd">
              <a:solidFill>
                <a:srgbClr val="9A9A9A"/>
              </a:solidFill>
              <a:prstDash val="solid"/>
            </a:ln>
          </p:spPr>
          <p:style>
            <a:lnRef idx="1">
              <a:schemeClr val="accent1"/>
            </a:lnRef>
            <a:fillRef idx="0">
              <a:schemeClr val="accent1"/>
            </a:fillRef>
            <a:effectRef idx="0">
              <a:schemeClr val="accent1"/>
            </a:effectRef>
            <a:fontRef idx="minor">
              <a:schemeClr val="tx1"/>
            </a:fontRef>
          </p:style>
        </p:cxnSp>
        <p:grpSp>
          <p:nvGrpSpPr>
            <p:cNvPr id="13" name="Group 12"/>
            <p:cNvGrpSpPr/>
            <p:nvPr/>
          </p:nvGrpSpPr>
          <p:grpSpPr>
            <a:xfrm>
              <a:off x="5938164" y="3833745"/>
              <a:ext cx="306171" cy="306910"/>
              <a:chOff x="5942914" y="3833745"/>
              <a:chExt cx="306171" cy="306910"/>
            </a:xfrm>
          </p:grpSpPr>
          <p:sp>
            <p:nvSpPr>
              <p:cNvPr id="14" name="Freeform 94"/>
              <p:cNvSpPr>
                <a:spLocks/>
              </p:cNvSpPr>
              <p:nvPr/>
            </p:nvSpPr>
            <p:spPr bwMode="gray">
              <a:xfrm>
                <a:off x="594291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D3FC9"/>
              </a:solidFill>
              <a:ln>
                <a:noFill/>
              </a:ln>
            </p:spPr>
            <p:txBody>
              <a:bodyPr vert="horz" wrap="square" lIns="88641" tIns="44321" rIns="88641" bIns="44321" numCol="1" anchor="t" anchorCtr="0" compatLnSpc="1">
                <a:prstTxWarp prst="textNoShape">
                  <a:avLst/>
                </a:prstTxWarp>
              </a:bodyPr>
              <a:lstStyle/>
              <a:p>
                <a:endParaRPr lang="en-US" dirty="0">
                  <a:solidFill>
                    <a:srgbClr val="6E6F73"/>
                  </a:solidFill>
                </a:endParaRPr>
              </a:p>
            </p:txBody>
          </p:sp>
          <p:sp>
            <p:nvSpPr>
              <p:cNvPr id="15" name="Freeform 95"/>
              <p:cNvSpPr>
                <a:spLocks/>
              </p:cNvSpPr>
              <p:nvPr/>
            </p:nvSpPr>
            <p:spPr bwMode="gray">
              <a:xfrm>
                <a:off x="605934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8641" tIns="44321" rIns="88641" bIns="44321" numCol="1" anchor="t" anchorCtr="0" compatLnSpc="1">
                <a:prstTxWarp prst="textNoShape">
                  <a:avLst/>
                </a:prstTxWarp>
              </a:bodyPr>
              <a:lstStyle/>
              <a:p>
                <a:endParaRPr lang="en-US" dirty="0">
                  <a:solidFill>
                    <a:srgbClr val="6E6F73"/>
                  </a:solidFill>
                </a:endParaRPr>
              </a:p>
            </p:txBody>
          </p:sp>
        </p:grpSp>
      </p:grpSp>
      <p:sp>
        <p:nvSpPr>
          <p:cNvPr id="17" name="ee4pContent1"/>
          <p:cNvSpPr txBox="1"/>
          <p:nvPr/>
        </p:nvSpPr>
        <p:spPr>
          <a:xfrm>
            <a:off x="629400" y="2129345"/>
            <a:ext cx="4679200" cy="4247317"/>
          </a:xfrm>
          <a:prstGeom prst="rect">
            <a:avLst/>
          </a:prstGeom>
          <a:ln cap="rnd">
            <a:noFill/>
          </a:ln>
        </p:spPr>
        <p:txBody>
          <a:bodyPr vert="horz" wrap="square" lIns="0" tIns="0" rIns="0" bIns="0" rtlCol="0">
            <a:spAutoFit/>
          </a:bodyPr>
          <a:lstStyle>
            <a:lvl1pPr lvl="0" indent="0">
              <a:lnSpc>
                <a:spcPct val="100000"/>
              </a:lnSpc>
              <a:spcBef>
                <a:spcPts val="0"/>
              </a:spcBef>
              <a:spcAft>
                <a:spcPts val="0"/>
              </a:spcAft>
              <a:buFont typeface="Trebuchet MS" panose="020B0603020202020204" pitchFamily="34" charset="0"/>
              <a:buChar char="​"/>
              <a:defRPr sz="2000">
                <a:latin typeface="Trebuchet MS" panose="020B0603020202020204" pitchFamily="34" charset="0"/>
                <a:sym typeface="Trebuchet MS" panose="020B0603020202020204" pitchFamily="34" charset="0"/>
              </a:defRPr>
            </a:lvl1pPr>
            <a:lvl2pPr marL="324000" lvl="1" indent="-216000">
              <a:lnSpc>
                <a:spcPct val="100000"/>
              </a:lnSpc>
              <a:spcBef>
                <a:spcPts val="0"/>
              </a:spcBef>
              <a:spcAft>
                <a:spcPts val="0"/>
              </a:spcAft>
              <a:buClr>
                <a:schemeClr val="tx2"/>
              </a:buClr>
              <a:buFont typeface="Trebuchet MS" panose="020B0603020202020204" pitchFamily="34" charset="0"/>
              <a:buChar char="•"/>
              <a:defRPr sz="2000">
                <a:latin typeface="Trebuchet MS" panose="020B0603020202020204" pitchFamily="34" charset="0"/>
                <a:sym typeface="Trebuchet MS" panose="020B0603020202020204" pitchFamily="34" charset="0"/>
              </a:defRPr>
            </a:lvl2pPr>
            <a:lvl3pPr marL="648000" lvl="2" indent="-216000">
              <a:lnSpc>
                <a:spcPct val="100000"/>
              </a:lnSpc>
              <a:spcBef>
                <a:spcPts val="0"/>
              </a:spcBef>
              <a:spcAft>
                <a:spcPts val="0"/>
              </a:spcAft>
              <a:buClr>
                <a:schemeClr val="tx2"/>
              </a:buClr>
              <a:buFont typeface="Trebuchet MS" panose="020B0603020202020204" pitchFamily="34" charset="0"/>
              <a:buChar char="–"/>
              <a:defRPr sz="2000">
                <a:latin typeface="Trebuchet MS" panose="020B0603020202020204" pitchFamily="34" charset="0"/>
                <a:sym typeface="Trebuchet MS" panose="020B0603020202020204" pitchFamily="34" charset="0"/>
              </a:defRPr>
            </a:lvl3pPr>
            <a:lvl4pPr marL="0" lvl="3" indent="0">
              <a:lnSpc>
                <a:spcPct val="100000"/>
              </a:lnSpc>
              <a:spcBef>
                <a:spcPts val="0"/>
              </a:spcBef>
              <a:spcAft>
                <a:spcPts val="0"/>
              </a:spcAft>
              <a:buClr>
                <a:schemeClr val="tx2"/>
              </a:buClr>
              <a:buFont typeface="Trebuchet MS" panose="020B0603020202020204" pitchFamily="34" charset="0"/>
              <a:buChar char="​"/>
              <a:defRPr sz="2400">
                <a:solidFill>
                  <a:schemeClr val="tx2"/>
                </a:solidFill>
                <a:latin typeface="Trebuchet MS" panose="020B0603020202020204" pitchFamily="34" charset="0"/>
                <a:sym typeface="Trebuchet MS" panose="020B0603020202020204" pitchFamily="34" charset="0"/>
              </a:defRPr>
            </a:lvl4pPr>
            <a:lvl5pPr marL="0" lvl="4" indent="0">
              <a:lnSpc>
                <a:spcPct val="100000"/>
              </a:lnSpc>
              <a:spcBef>
                <a:spcPts val="0"/>
              </a:spcBef>
              <a:spcAft>
                <a:spcPts val="0"/>
              </a:spcAft>
              <a:buClrTx/>
              <a:buFont typeface="Trebuchet MS" panose="020B0603020202020204" pitchFamily="34" charset="0"/>
              <a:buChar char="​"/>
              <a:defRPr sz="2400" b="1">
                <a:latin typeface="Trebuchet MS" panose="020B0603020202020204" pitchFamily="34" charset="0"/>
                <a:sym typeface="Trebuchet MS" panose="020B0603020202020204" pitchFamily="34" charset="0"/>
              </a:defRPr>
            </a:lvl5pPr>
            <a:lvl6pPr marL="324000" lvl="5" indent="-216000">
              <a:lnSpc>
                <a:spcPct val="100000"/>
              </a:lnSpc>
              <a:spcBef>
                <a:spcPts val="0"/>
              </a:spcBef>
              <a:spcAft>
                <a:spcPts val="0"/>
              </a:spcAft>
              <a:buClr>
                <a:schemeClr val="tx2"/>
              </a:buClr>
              <a:buFont typeface="Trebuchet MS" panose="020B0603020202020204" pitchFamily="34" charset="0"/>
              <a:buChar char="•"/>
              <a:defRPr sz="2400">
                <a:latin typeface="Trebuchet MS" panose="020B0603020202020204" pitchFamily="34" charset="0"/>
                <a:sym typeface="Trebuchet MS" panose="020B0603020202020204" pitchFamily="34" charset="0"/>
              </a:defRPr>
            </a:lvl6pPr>
            <a:lvl7pPr marL="0" lvl="6" indent="0">
              <a:lnSpc>
                <a:spcPct val="100000"/>
              </a:lnSpc>
              <a:spcBef>
                <a:spcPts val="0"/>
              </a:spcBef>
              <a:spcAft>
                <a:spcPts val="0"/>
              </a:spcAft>
              <a:buFont typeface="Trebuchet MS" panose="020B0603020202020204" pitchFamily="34" charset="0"/>
              <a:buChar char="​"/>
              <a:defRPr sz="5400" baseline="0">
                <a:latin typeface="Trebuchet MS" panose="020B0603020202020204" pitchFamily="34" charset="0"/>
                <a:sym typeface="Trebuchet MS" panose="020B0603020202020204" pitchFamily="34" charset="0"/>
              </a:defRPr>
            </a:lvl7pPr>
            <a:lvl8pPr marL="0" lvl="7" indent="0">
              <a:lnSpc>
                <a:spcPct val="100000"/>
              </a:lnSpc>
              <a:spcBef>
                <a:spcPts val="0"/>
              </a:spcBef>
              <a:spcAft>
                <a:spcPts val="0"/>
              </a:spcAft>
              <a:buFont typeface="Trebuchet MS" panose="020B0603020202020204" pitchFamily="34" charset="0"/>
              <a:buChar char="​"/>
              <a:defRPr sz="6600">
                <a:solidFill>
                  <a:schemeClr val="tx2"/>
                </a:solidFill>
                <a:latin typeface="Trebuchet MS" panose="020B0603020202020204" pitchFamily="34" charset="0"/>
                <a:sym typeface="Trebuchet MS" panose="020B0603020202020204" pitchFamily="34" charset="0"/>
              </a:defRPr>
            </a:lvl8pPr>
            <a:lvl9pPr marL="0" lvl="8" indent="0">
              <a:lnSpc>
                <a:spcPct val="100000"/>
              </a:lnSpc>
              <a:spcBef>
                <a:spcPts val="0"/>
              </a:spcBef>
              <a:spcAft>
                <a:spcPts val="0"/>
              </a:spcAft>
              <a:buFont typeface="Trebuchet MS" panose="020B0603020202020204" pitchFamily="34" charset="0"/>
              <a:buChar char="​"/>
              <a:defRPr sz="4400">
                <a:solidFill>
                  <a:schemeClr val="tx2"/>
                </a:solidFill>
                <a:latin typeface="Trebuchet MS" panose="020B0603020202020204" pitchFamily="34" charset="0"/>
                <a:sym typeface="Trebuchet MS" panose="020B0603020202020204" pitchFamily="34" charset="0"/>
              </a:defRPr>
            </a:lvl9pPr>
          </a:lstStyle>
          <a:p>
            <a:r>
              <a:rPr lang="en-US" sz="1200" b="1" dirty="0">
                <a:solidFill>
                  <a:srgbClr val="575757"/>
                </a:solidFill>
                <a:cs typeface="Arial" pitchFamily="34" charset="0"/>
              </a:rPr>
              <a:t>Objective: Identify, evaluate, and mitigate legal, ethical, and operational risks of the Regulatory Copilot before deployment</a:t>
            </a:r>
          </a:p>
          <a:p>
            <a:pPr>
              <a:buNone/>
            </a:pPr>
            <a:endParaRPr lang="en-US" sz="1200" dirty="0">
              <a:solidFill>
                <a:srgbClr val="575757"/>
              </a:solidFill>
              <a:cs typeface="Arial" pitchFamily="34" charset="0"/>
            </a:endParaRPr>
          </a:p>
          <a:p>
            <a:r>
              <a:rPr lang="en-US" sz="1200" b="1" dirty="0">
                <a:solidFill>
                  <a:srgbClr val="575757"/>
                </a:solidFill>
                <a:cs typeface="Arial" pitchFamily="34" charset="0"/>
              </a:rPr>
              <a:t>Define AI policy &amp; risk appetite statement </a:t>
            </a:r>
            <a:r>
              <a:rPr lang="en-US" sz="1200" dirty="0">
                <a:solidFill>
                  <a:srgbClr val="575757"/>
                </a:solidFill>
                <a:cs typeface="Arial" pitchFamily="34" charset="0"/>
              </a:rPr>
              <a:t>-&gt; set regulatory boundaries and clarify prohibited uses (e.g., final legal decisions)</a:t>
            </a:r>
          </a:p>
          <a:p>
            <a:endParaRPr lang="en-US" sz="1200" dirty="0">
              <a:solidFill>
                <a:srgbClr val="575757"/>
              </a:solidFill>
              <a:cs typeface="Arial" pitchFamily="34" charset="0"/>
            </a:endParaRPr>
          </a:p>
          <a:p>
            <a:endParaRPr lang="en-US" sz="1200" dirty="0">
              <a:solidFill>
                <a:srgbClr val="575757"/>
              </a:solidFill>
              <a:cs typeface="Arial" pitchFamily="34" charset="0"/>
            </a:endParaRPr>
          </a:p>
          <a:p>
            <a:r>
              <a:rPr lang="en-US" sz="1200" b="1" dirty="0">
                <a:solidFill>
                  <a:srgbClr val="575757"/>
                </a:solidFill>
                <a:cs typeface="Arial" pitchFamily="34" charset="0"/>
              </a:rPr>
              <a:t>Create a stakeholder register -&gt;</a:t>
            </a:r>
            <a:r>
              <a:rPr lang="en-US" sz="1200" dirty="0">
                <a:solidFill>
                  <a:srgbClr val="575757"/>
                </a:solidFill>
                <a:cs typeface="Arial" pitchFamily="34" charset="0"/>
              </a:rPr>
              <a:t> list data-protection, risk, and compliance owners to ensure clear accountability</a:t>
            </a:r>
          </a:p>
          <a:p>
            <a:endParaRPr lang="en-US" sz="1200" dirty="0">
              <a:solidFill>
                <a:srgbClr val="575757"/>
              </a:solidFill>
              <a:cs typeface="Arial" pitchFamily="34" charset="0"/>
            </a:endParaRPr>
          </a:p>
          <a:p>
            <a:endParaRPr lang="en-US" sz="1200" dirty="0">
              <a:solidFill>
                <a:srgbClr val="575757"/>
              </a:solidFill>
              <a:cs typeface="Arial" pitchFamily="34" charset="0"/>
            </a:endParaRPr>
          </a:p>
          <a:p>
            <a:r>
              <a:rPr lang="en-US" sz="1200" b="1" dirty="0">
                <a:solidFill>
                  <a:srgbClr val="575757"/>
                </a:solidFill>
                <a:cs typeface="Arial" pitchFamily="34" charset="0"/>
              </a:rPr>
              <a:t>Conduct impact and harms analysis </a:t>
            </a:r>
            <a:r>
              <a:rPr lang="en-US" sz="1200" dirty="0">
                <a:solidFill>
                  <a:srgbClr val="575757"/>
                </a:solidFill>
                <a:cs typeface="Arial" pitchFamily="34" charset="0"/>
              </a:rPr>
              <a:t>-&gt; evaluate possible misinterpretations or biased summaries of regulations</a:t>
            </a:r>
          </a:p>
          <a:p>
            <a:endParaRPr lang="en-US" sz="1200" dirty="0">
              <a:solidFill>
                <a:srgbClr val="575757"/>
              </a:solidFill>
              <a:cs typeface="Arial" pitchFamily="34" charset="0"/>
            </a:endParaRPr>
          </a:p>
          <a:p>
            <a:endParaRPr lang="en-US" sz="1200" dirty="0">
              <a:solidFill>
                <a:srgbClr val="575757"/>
              </a:solidFill>
              <a:cs typeface="Arial" pitchFamily="34" charset="0"/>
            </a:endParaRPr>
          </a:p>
          <a:p>
            <a:r>
              <a:rPr lang="en-US" sz="1200" b="1" dirty="0">
                <a:solidFill>
                  <a:srgbClr val="575757"/>
                </a:solidFill>
                <a:cs typeface="Arial" pitchFamily="34" charset="0"/>
              </a:rPr>
              <a:t>Map data lineage and legal constraints </a:t>
            </a:r>
            <a:r>
              <a:rPr lang="en-US" sz="1200" dirty="0">
                <a:solidFill>
                  <a:srgbClr val="575757"/>
                </a:solidFill>
                <a:cs typeface="Arial" pitchFamily="34" charset="0"/>
              </a:rPr>
              <a:t>-&gt; record sources, confidentiality levels, and CNIL requirements</a:t>
            </a:r>
          </a:p>
          <a:p>
            <a:endParaRPr lang="en-US" sz="1200" dirty="0">
              <a:solidFill>
                <a:srgbClr val="575757"/>
              </a:solidFill>
              <a:cs typeface="Arial" pitchFamily="34" charset="0"/>
            </a:endParaRPr>
          </a:p>
          <a:p>
            <a:endParaRPr lang="en-US" sz="1200" dirty="0">
              <a:solidFill>
                <a:srgbClr val="575757"/>
              </a:solidFill>
              <a:cs typeface="Arial" pitchFamily="34" charset="0"/>
            </a:endParaRPr>
          </a:p>
          <a:p>
            <a:r>
              <a:rPr lang="en-US" sz="1200" b="1" dirty="0">
                <a:solidFill>
                  <a:srgbClr val="575757"/>
                </a:solidFill>
                <a:cs typeface="Arial" pitchFamily="34" charset="0"/>
              </a:rPr>
              <a:t>Establish incident response playbook </a:t>
            </a:r>
            <a:r>
              <a:rPr lang="en-US" sz="1200" dirty="0">
                <a:solidFill>
                  <a:srgbClr val="575757"/>
                </a:solidFill>
                <a:cs typeface="Arial" pitchFamily="34" charset="0"/>
              </a:rPr>
              <a:t>-&gt; define triggers, mitigation paths, and reporting duties to regulators</a:t>
            </a:r>
          </a:p>
          <a:p>
            <a:endParaRPr lang="en-US" sz="1200" dirty="0">
              <a:solidFill>
                <a:srgbClr val="575757"/>
              </a:solidFill>
              <a:cs typeface="Arial" pitchFamily="34" charset="0"/>
            </a:endParaRPr>
          </a:p>
          <a:p>
            <a:endParaRPr lang="en-US" sz="1200" dirty="0">
              <a:solidFill>
                <a:srgbClr val="575757"/>
              </a:solidFill>
              <a:cs typeface="Arial" pitchFamily="34" charset="0"/>
            </a:endParaRPr>
          </a:p>
        </p:txBody>
      </p:sp>
      <p:sp>
        <p:nvSpPr>
          <p:cNvPr id="18" name="ee4pContent2"/>
          <p:cNvSpPr txBox="1"/>
          <p:nvPr/>
        </p:nvSpPr>
        <p:spPr>
          <a:xfrm>
            <a:off x="6884000" y="2129345"/>
            <a:ext cx="4679200" cy="3877985"/>
          </a:xfrm>
          <a:prstGeom prst="rect">
            <a:avLst/>
          </a:prstGeom>
          <a:ln cap="rnd">
            <a:noFill/>
          </a:ln>
        </p:spPr>
        <p:txBody>
          <a:bodyPr vert="horz" wrap="square" lIns="0" tIns="0" rIns="0" bIns="0" rtlCol="0">
            <a:spAutoFit/>
          </a:bodyPr>
          <a:lstStyle>
            <a:lvl1pPr lvl="0" indent="0">
              <a:lnSpc>
                <a:spcPct val="100000"/>
              </a:lnSpc>
              <a:spcBef>
                <a:spcPts val="0"/>
              </a:spcBef>
              <a:spcAft>
                <a:spcPts val="0"/>
              </a:spcAft>
              <a:buFont typeface="Trebuchet MS" panose="020B0603020202020204" pitchFamily="34" charset="0"/>
              <a:buChar char="​"/>
              <a:defRPr sz="2000">
                <a:latin typeface="Trebuchet MS" panose="020B0603020202020204" pitchFamily="34" charset="0"/>
                <a:sym typeface="Trebuchet MS" panose="020B0603020202020204" pitchFamily="34" charset="0"/>
              </a:defRPr>
            </a:lvl1pPr>
            <a:lvl2pPr marL="324000" lvl="1" indent="-216000">
              <a:lnSpc>
                <a:spcPct val="100000"/>
              </a:lnSpc>
              <a:spcBef>
                <a:spcPts val="0"/>
              </a:spcBef>
              <a:spcAft>
                <a:spcPts val="0"/>
              </a:spcAft>
              <a:buClr>
                <a:schemeClr val="tx2"/>
              </a:buClr>
              <a:buFont typeface="Trebuchet MS" panose="020B0603020202020204" pitchFamily="34" charset="0"/>
              <a:buChar char="•"/>
              <a:defRPr sz="2000">
                <a:latin typeface="Trebuchet MS" panose="020B0603020202020204" pitchFamily="34" charset="0"/>
                <a:sym typeface="Trebuchet MS" panose="020B0603020202020204" pitchFamily="34" charset="0"/>
              </a:defRPr>
            </a:lvl2pPr>
            <a:lvl3pPr marL="648000" lvl="2" indent="-216000">
              <a:lnSpc>
                <a:spcPct val="100000"/>
              </a:lnSpc>
              <a:spcBef>
                <a:spcPts val="0"/>
              </a:spcBef>
              <a:spcAft>
                <a:spcPts val="0"/>
              </a:spcAft>
              <a:buClr>
                <a:schemeClr val="tx2"/>
              </a:buClr>
              <a:buFont typeface="Trebuchet MS" panose="020B0603020202020204" pitchFamily="34" charset="0"/>
              <a:buChar char="–"/>
              <a:defRPr sz="2000">
                <a:latin typeface="Trebuchet MS" panose="020B0603020202020204" pitchFamily="34" charset="0"/>
                <a:sym typeface="Trebuchet MS" panose="020B0603020202020204" pitchFamily="34" charset="0"/>
              </a:defRPr>
            </a:lvl3pPr>
            <a:lvl4pPr marL="0" lvl="3" indent="0">
              <a:lnSpc>
                <a:spcPct val="100000"/>
              </a:lnSpc>
              <a:spcBef>
                <a:spcPts val="0"/>
              </a:spcBef>
              <a:spcAft>
                <a:spcPts val="0"/>
              </a:spcAft>
              <a:buClr>
                <a:schemeClr val="tx2"/>
              </a:buClr>
              <a:buFont typeface="Trebuchet MS" panose="020B0603020202020204" pitchFamily="34" charset="0"/>
              <a:buChar char="​"/>
              <a:defRPr sz="2400">
                <a:solidFill>
                  <a:schemeClr val="tx2"/>
                </a:solidFill>
                <a:latin typeface="Trebuchet MS" panose="020B0603020202020204" pitchFamily="34" charset="0"/>
                <a:sym typeface="Trebuchet MS" panose="020B0603020202020204" pitchFamily="34" charset="0"/>
              </a:defRPr>
            </a:lvl4pPr>
            <a:lvl5pPr marL="0" lvl="4" indent="0">
              <a:lnSpc>
                <a:spcPct val="100000"/>
              </a:lnSpc>
              <a:spcBef>
                <a:spcPts val="0"/>
              </a:spcBef>
              <a:spcAft>
                <a:spcPts val="0"/>
              </a:spcAft>
              <a:buClrTx/>
              <a:buFont typeface="Trebuchet MS" panose="020B0603020202020204" pitchFamily="34" charset="0"/>
              <a:buChar char="​"/>
              <a:defRPr sz="2400" b="1">
                <a:latin typeface="Trebuchet MS" panose="020B0603020202020204" pitchFamily="34" charset="0"/>
                <a:sym typeface="Trebuchet MS" panose="020B0603020202020204" pitchFamily="34" charset="0"/>
              </a:defRPr>
            </a:lvl5pPr>
            <a:lvl6pPr marL="324000" lvl="5" indent="-216000">
              <a:lnSpc>
                <a:spcPct val="100000"/>
              </a:lnSpc>
              <a:spcBef>
                <a:spcPts val="0"/>
              </a:spcBef>
              <a:spcAft>
                <a:spcPts val="0"/>
              </a:spcAft>
              <a:buClr>
                <a:schemeClr val="tx2"/>
              </a:buClr>
              <a:buFont typeface="Trebuchet MS" panose="020B0603020202020204" pitchFamily="34" charset="0"/>
              <a:buChar char="•"/>
              <a:defRPr sz="2400">
                <a:latin typeface="Trebuchet MS" panose="020B0603020202020204" pitchFamily="34" charset="0"/>
                <a:sym typeface="Trebuchet MS" panose="020B0603020202020204" pitchFamily="34" charset="0"/>
              </a:defRPr>
            </a:lvl6pPr>
            <a:lvl7pPr marL="0" lvl="6" indent="0">
              <a:lnSpc>
                <a:spcPct val="100000"/>
              </a:lnSpc>
              <a:spcBef>
                <a:spcPts val="0"/>
              </a:spcBef>
              <a:spcAft>
                <a:spcPts val="0"/>
              </a:spcAft>
              <a:buFont typeface="Trebuchet MS" panose="020B0603020202020204" pitchFamily="34" charset="0"/>
              <a:buChar char="​"/>
              <a:defRPr sz="5400" baseline="0">
                <a:latin typeface="Trebuchet MS" panose="020B0603020202020204" pitchFamily="34" charset="0"/>
                <a:sym typeface="Trebuchet MS" panose="020B0603020202020204" pitchFamily="34" charset="0"/>
              </a:defRPr>
            </a:lvl7pPr>
            <a:lvl8pPr marL="0" lvl="7" indent="0">
              <a:lnSpc>
                <a:spcPct val="100000"/>
              </a:lnSpc>
              <a:spcBef>
                <a:spcPts val="0"/>
              </a:spcBef>
              <a:spcAft>
                <a:spcPts val="0"/>
              </a:spcAft>
              <a:buFont typeface="Trebuchet MS" panose="020B0603020202020204" pitchFamily="34" charset="0"/>
              <a:buChar char="​"/>
              <a:defRPr sz="6600">
                <a:solidFill>
                  <a:schemeClr val="tx2"/>
                </a:solidFill>
                <a:latin typeface="Trebuchet MS" panose="020B0603020202020204" pitchFamily="34" charset="0"/>
                <a:sym typeface="Trebuchet MS" panose="020B0603020202020204" pitchFamily="34" charset="0"/>
              </a:defRPr>
            </a:lvl8pPr>
            <a:lvl9pPr marL="0" lvl="8" indent="0">
              <a:lnSpc>
                <a:spcPct val="100000"/>
              </a:lnSpc>
              <a:spcBef>
                <a:spcPts val="0"/>
              </a:spcBef>
              <a:spcAft>
                <a:spcPts val="0"/>
              </a:spcAft>
              <a:buFont typeface="Trebuchet MS" panose="020B0603020202020204" pitchFamily="34" charset="0"/>
              <a:buChar char="​"/>
              <a:defRPr sz="4400">
                <a:solidFill>
                  <a:schemeClr val="tx2"/>
                </a:solidFill>
                <a:latin typeface="Trebuchet MS" panose="020B0603020202020204" pitchFamily="34" charset="0"/>
                <a:sym typeface="Trebuchet MS" panose="020B0603020202020204" pitchFamily="34" charset="0"/>
              </a:defRPr>
            </a:lvl9pPr>
          </a:lstStyle>
          <a:p>
            <a:pPr>
              <a:buSzPct val="100000"/>
              <a:buFont typeface="Trebuchet MS" panose="020B0603020202020204" pitchFamily="34" charset="0"/>
              <a:buChar char="​"/>
            </a:pPr>
            <a:r>
              <a:rPr lang="en-US" sz="1200" b="1" dirty="0">
                <a:solidFill>
                  <a:schemeClr val="tx1">
                    <a:lumMod val="100000"/>
                  </a:schemeClr>
                </a:solidFill>
              </a:rPr>
              <a:t>Objective: Track accuracy, reliability, and compliance of the Copilot over time and adjust proactively</a:t>
            </a:r>
          </a:p>
          <a:p>
            <a:pPr>
              <a:buSzPct val="100000"/>
              <a:buFont typeface="Trebuchet MS" panose="020B0603020202020204" pitchFamily="34" charset="0"/>
              <a:buChar char="​"/>
            </a:pPr>
            <a:endParaRPr lang="en-US" sz="1200" dirty="0">
              <a:solidFill>
                <a:schemeClr val="tx1">
                  <a:lumMod val="100000"/>
                </a:schemeClr>
              </a:solidFill>
            </a:endParaRPr>
          </a:p>
          <a:p>
            <a:pPr>
              <a:buSzPct val="100000"/>
              <a:buFont typeface="Trebuchet MS" panose="020B0603020202020204" pitchFamily="34" charset="0"/>
              <a:buChar char="​"/>
            </a:pPr>
            <a:r>
              <a:rPr lang="en-US" sz="1200" b="1" dirty="0">
                <a:solidFill>
                  <a:schemeClr val="tx1">
                    <a:lumMod val="100000"/>
                  </a:schemeClr>
                </a:solidFill>
              </a:rPr>
              <a:t>Set fit-for-purpose metrics </a:t>
            </a:r>
            <a:r>
              <a:rPr lang="en-US" sz="1200" dirty="0">
                <a:solidFill>
                  <a:schemeClr val="tx1">
                    <a:lumMod val="100000"/>
                  </a:schemeClr>
                </a:solidFill>
              </a:rPr>
              <a:t>-&gt; precision / recall for regulatory summaries and compliance alignment scores</a:t>
            </a:r>
          </a:p>
          <a:p>
            <a:pPr>
              <a:buSzPct val="100000"/>
              <a:buFont typeface="Trebuchet MS" panose="020B0603020202020204" pitchFamily="34" charset="0"/>
              <a:buChar char="​"/>
            </a:pPr>
            <a:endParaRPr lang="en-US" sz="1200" dirty="0">
              <a:solidFill>
                <a:schemeClr val="tx1">
                  <a:lumMod val="100000"/>
                </a:schemeClr>
              </a:solidFill>
            </a:endParaRPr>
          </a:p>
          <a:p>
            <a:pPr>
              <a:buSzPct val="100000"/>
              <a:buFont typeface="Trebuchet MS" panose="020B0603020202020204" pitchFamily="34" charset="0"/>
              <a:buChar char="​"/>
            </a:pPr>
            <a:endParaRPr lang="en-US" sz="1200" dirty="0">
              <a:solidFill>
                <a:schemeClr val="tx1">
                  <a:lumMod val="100000"/>
                </a:schemeClr>
              </a:solidFill>
            </a:endParaRPr>
          </a:p>
          <a:p>
            <a:pPr>
              <a:buSzPct val="100000"/>
              <a:buFont typeface="Trebuchet MS" panose="020B0603020202020204" pitchFamily="34" charset="0"/>
              <a:buChar char="​"/>
            </a:pPr>
            <a:r>
              <a:rPr lang="en-US" sz="1200" b="1" dirty="0">
                <a:solidFill>
                  <a:schemeClr val="tx1">
                    <a:lumMod val="100000"/>
                  </a:schemeClr>
                </a:solidFill>
              </a:rPr>
              <a:t>Define accept/reject thresholds </a:t>
            </a:r>
            <a:r>
              <a:rPr lang="en-US" sz="1200" dirty="0">
                <a:solidFill>
                  <a:schemeClr val="tx1">
                    <a:lumMod val="100000"/>
                  </a:schemeClr>
                </a:solidFill>
              </a:rPr>
              <a:t>-&gt; e.g., ≥ 90 % agreement between LLM and compliance expert summaries</a:t>
            </a:r>
          </a:p>
          <a:p>
            <a:pPr>
              <a:buSzPct val="100000"/>
              <a:buFont typeface="Trebuchet MS" panose="020B0603020202020204" pitchFamily="34" charset="0"/>
              <a:buChar char="​"/>
            </a:pPr>
            <a:endParaRPr lang="en-US" sz="1200" dirty="0">
              <a:solidFill>
                <a:schemeClr val="tx1">
                  <a:lumMod val="100000"/>
                </a:schemeClr>
              </a:solidFill>
            </a:endParaRPr>
          </a:p>
          <a:p>
            <a:pPr>
              <a:buSzPct val="100000"/>
              <a:buFont typeface="Trebuchet MS" panose="020B0603020202020204" pitchFamily="34" charset="0"/>
              <a:buChar char="​"/>
            </a:pPr>
            <a:endParaRPr lang="en-US" sz="1200" dirty="0">
              <a:solidFill>
                <a:schemeClr val="tx1">
                  <a:lumMod val="100000"/>
                </a:schemeClr>
              </a:solidFill>
            </a:endParaRPr>
          </a:p>
          <a:p>
            <a:pPr>
              <a:buSzPct val="100000"/>
              <a:buFont typeface="Trebuchet MS" panose="020B0603020202020204" pitchFamily="34" charset="0"/>
              <a:buChar char="​"/>
            </a:pPr>
            <a:r>
              <a:rPr lang="en-US" sz="1200" b="1" dirty="0">
                <a:solidFill>
                  <a:schemeClr val="tx1">
                    <a:lumMod val="100000"/>
                  </a:schemeClr>
                </a:solidFill>
              </a:rPr>
              <a:t>Deploy continuous monitoring dashboard </a:t>
            </a:r>
            <a:r>
              <a:rPr lang="en-US" sz="1200" dirty="0">
                <a:solidFill>
                  <a:schemeClr val="tx1">
                    <a:lumMod val="100000"/>
                  </a:schemeClr>
                </a:solidFill>
              </a:rPr>
              <a:t>-&gt; flag performance drift or inconsistent outputs</a:t>
            </a:r>
          </a:p>
          <a:p>
            <a:pPr>
              <a:buSzPct val="100000"/>
              <a:buFont typeface="Trebuchet MS" panose="020B0603020202020204" pitchFamily="34" charset="0"/>
              <a:buChar char="​"/>
            </a:pPr>
            <a:endParaRPr lang="en-US" sz="1200" dirty="0">
              <a:solidFill>
                <a:schemeClr val="tx1">
                  <a:lumMod val="100000"/>
                </a:schemeClr>
              </a:solidFill>
            </a:endParaRPr>
          </a:p>
          <a:p>
            <a:pPr>
              <a:buSzPct val="100000"/>
              <a:buFont typeface="Trebuchet MS" panose="020B0603020202020204" pitchFamily="34" charset="0"/>
              <a:buChar char="​"/>
            </a:pPr>
            <a:endParaRPr lang="en-US" sz="1200" dirty="0">
              <a:solidFill>
                <a:schemeClr val="tx1">
                  <a:lumMod val="100000"/>
                </a:schemeClr>
              </a:solidFill>
            </a:endParaRPr>
          </a:p>
          <a:p>
            <a:pPr>
              <a:buSzPct val="100000"/>
              <a:buFont typeface="Trebuchet MS" panose="020B0603020202020204" pitchFamily="34" charset="0"/>
              <a:buChar char="​"/>
            </a:pPr>
            <a:r>
              <a:rPr lang="en-US" sz="1200" b="1" dirty="0">
                <a:solidFill>
                  <a:schemeClr val="tx1">
                    <a:lumMod val="100000"/>
                  </a:schemeClr>
                </a:solidFill>
              </a:rPr>
              <a:t>Schedule quarterly audits &amp; feedback loops </a:t>
            </a:r>
            <a:r>
              <a:rPr lang="en-US" sz="1200" dirty="0">
                <a:solidFill>
                  <a:schemeClr val="tx1">
                    <a:lumMod val="100000"/>
                  </a:schemeClr>
                </a:solidFill>
              </a:rPr>
              <a:t>-&gt; include compliance officers and model owners in reviews</a:t>
            </a:r>
          </a:p>
          <a:p>
            <a:pPr>
              <a:buSzPct val="100000"/>
              <a:buFont typeface="Trebuchet MS" panose="020B0603020202020204" pitchFamily="34" charset="0"/>
              <a:buChar char="​"/>
            </a:pPr>
            <a:endParaRPr lang="en-US" sz="1200" dirty="0">
              <a:solidFill>
                <a:schemeClr val="tx1">
                  <a:lumMod val="100000"/>
                </a:schemeClr>
              </a:solidFill>
            </a:endParaRPr>
          </a:p>
          <a:p>
            <a:pPr>
              <a:buSzPct val="100000"/>
              <a:buFont typeface="Trebuchet MS" panose="020B0603020202020204" pitchFamily="34" charset="0"/>
              <a:buChar char="​"/>
            </a:pPr>
            <a:endParaRPr lang="en-US" sz="1200" dirty="0">
              <a:solidFill>
                <a:schemeClr val="tx1">
                  <a:lumMod val="100000"/>
                </a:schemeClr>
              </a:solidFill>
            </a:endParaRPr>
          </a:p>
          <a:p>
            <a:pPr>
              <a:buSzPct val="100000"/>
              <a:buFont typeface="Trebuchet MS" panose="020B0603020202020204" pitchFamily="34" charset="0"/>
              <a:buChar char="​"/>
            </a:pPr>
            <a:r>
              <a:rPr lang="en-US" sz="1200" b="1" dirty="0">
                <a:solidFill>
                  <a:schemeClr val="tx1">
                    <a:lumMod val="100000"/>
                  </a:schemeClr>
                </a:solidFill>
              </a:rPr>
              <a:t>Maintain change-management log </a:t>
            </a:r>
            <a:r>
              <a:rPr lang="en-US" sz="1200" dirty="0">
                <a:solidFill>
                  <a:schemeClr val="tx1">
                    <a:lumMod val="100000"/>
                  </a:schemeClr>
                </a:solidFill>
              </a:rPr>
              <a:t>-&gt; document model updates, retrains, and corrective actions for traceability</a:t>
            </a:r>
          </a:p>
        </p:txBody>
      </p:sp>
      <p:sp>
        <p:nvSpPr>
          <p:cNvPr id="19" name="ee4pHeader1"/>
          <p:cNvSpPr txBox="1"/>
          <p:nvPr/>
        </p:nvSpPr>
        <p:spPr>
          <a:xfrm>
            <a:off x="629400" y="1250945"/>
            <a:ext cx="4679200" cy="759600"/>
          </a:xfrm>
          <a:prstGeom prst="rect">
            <a:avLst/>
          </a:prstGeom>
          <a:noFill/>
          <a:ln cap="rnd">
            <a:noFill/>
          </a:ln>
        </p:spPr>
        <p:txBody>
          <a:bodyPr wrap="square" lIns="0" tIns="0" rIns="0" bIns="0" rtlCol="0" anchor="b">
            <a:noAutofit/>
          </a:bodyPr>
          <a:lstStyle/>
          <a:p>
            <a:pPr marL="0" lvl="3"/>
            <a:r>
              <a:rPr lang="en-US" sz="1600" dirty="0">
                <a:solidFill>
                  <a:srgbClr val="1D3FC9"/>
                </a:solidFill>
              </a:rPr>
              <a:t>Step 1 — Assess risks &amp; harms</a:t>
            </a:r>
          </a:p>
        </p:txBody>
      </p:sp>
      <p:sp>
        <p:nvSpPr>
          <p:cNvPr id="20" name="ee4pHeader2"/>
          <p:cNvSpPr txBox="1"/>
          <p:nvPr/>
        </p:nvSpPr>
        <p:spPr>
          <a:xfrm>
            <a:off x="6884000" y="1250945"/>
            <a:ext cx="4679200" cy="759600"/>
          </a:xfrm>
          <a:prstGeom prst="rect">
            <a:avLst/>
          </a:prstGeom>
          <a:noFill/>
          <a:ln cap="rnd">
            <a:noFill/>
          </a:ln>
        </p:spPr>
        <p:txBody>
          <a:bodyPr wrap="square" lIns="0" tIns="0" rIns="0" bIns="0" rtlCol="0" anchor="b">
            <a:noAutofit/>
          </a:bodyPr>
          <a:lstStyle/>
          <a:p>
            <a:pPr marL="0" lvl="3"/>
            <a:r>
              <a:rPr lang="en-US" sz="1600" dirty="0">
                <a:solidFill>
                  <a:srgbClr val="1D3FC9"/>
                </a:solidFill>
              </a:rPr>
              <a:t>Step 2 — Monitor effectiveness &amp; performance</a:t>
            </a:r>
          </a:p>
        </p:txBody>
      </p:sp>
    </p:spTree>
    <p:extLst>
      <p:ext uri="{BB962C8B-B14F-4D97-AF65-F5344CB8AC3E}">
        <p14:creationId xmlns:p14="http://schemas.microsoft.com/office/powerpoint/2010/main" val="20244428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 name="EE4P_STYLE_ID" val="39dcc26a-7131-49f4-a9eb-1c0521500c03"/>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9.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BCG_MODE" val="Documentation"/>
  <p:tag name="BCG_DESIGN" val="Title only"/>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Mvx_1gpxR4OI3D2QIZZIi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4433</TotalTime>
  <Words>438</Words>
  <Application>Microsoft Macintosh PowerPoint</Application>
  <PresentationFormat>Grand écran</PresentationFormat>
  <Paragraphs>58</Paragraphs>
  <Slides>4</Slides>
  <Notes>4</Notes>
  <HiddenSlides>0</HiddenSlides>
  <MMClips>0</MMClips>
  <ScaleCrop>false</ScaleCrop>
  <HeadingPairs>
    <vt:vector size="10" baseType="variant">
      <vt:variant>
        <vt:lpstr>Polices utilisées</vt:lpstr>
      </vt:variant>
      <vt:variant>
        <vt:i4>2</vt:i4>
      </vt:variant>
      <vt:variant>
        <vt:lpstr>Thème</vt:lpstr>
      </vt:variant>
      <vt:variant>
        <vt:i4>1</vt:i4>
      </vt:variant>
      <vt:variant>
        <vt:lpstr>Serveurs OLE incorporés</vt:lpstr>
      </vt:variant>
      <vt:variant>
        <vt:i4>1</vt:i4>
      </vt:variant>
      <vt:variant>
        <vt:lpstr>Titres des diapositives</vt:lpstr>
      </vt:variant>
      <vt:variant>
        <vt:i4>4</vt:i4>
      </vt:variant>
      <vt:variant>
        <vt:lpstr>Diaporamas personnalisés</vt:lpstr>
      </vt:variant>
      <vt:variant>
        <vt:i4>1</vt:i4>
      </vt:variant>
    </vt:vector>
  </HeadingPairs>
  <TitlesOfParts>
    <vt:vector size="9" baseType="lpstr">
      <vt:lpstr>Arial</vt:lpstr>
      <vt:lpstr>Trebuchet MS</vt:lpstr>
      <vt:lpstr>BCG Grid 16:9</vt:lpstr>
      <vt:lpstr>think-cell Slide</vt:lpstr>
      <vt:lpstr>HexaBank</vt:lpstr>
      <vt:lpstr>Early AI maturity with strategic intent but gaps in governance, MLOps, and measurement</vt:lpstr>
      <vt:lpstr>Regulatory Copilot is compliant by design, high-ROI, low-friction, the practical first step before complex AI</vt:lpstr>
      <vt:lpstr>Chosen framework: NIST AI risk management framework (RMF)</vt:lpstr>
      <vt:lpstr>Format Guide Workshop</vt:lpstr>
    </vt:vector>
  </TitlesOfParts>
  <Company>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Slide Deck</dc:title>
  <dc:creator>Boston Consulting Group</dc:creator>
  <cp:lastModifiedBy>Enzo Berreur</cp:lastModifiedBy>
  <cp:revision>475</cp:revision>
  <cp:lastPrinted>2016-04-06T18:59:25Z</cp:lastPrinted>
  <dcterms:created xsi:type="dcterms:W3CDTF">2016-11-04T11:46:04Z</dcterms:created>
  <dcterms:modified xsi:type="dcterms:W3CDTF">2025-10-30T17:49:59Z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2025-10-18T10:38:44Z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b3c33760-eecb-4217-837d-a96e903100eb</vt:lpwstr>
  </property>
  <property fmtid="{D5CDD505-2E9C-101B-9397-08002B2CF9AE}" pid="13" name="MSIP_Label_b0d5c4f4-7a29-4385-b7a5-afbe2154ae6f_ContentBits">
    <vt:lpwstr>0</vt:lpwstr>
  </property>
  <property fmtid="{D5CDD505-2E9C-101B-9397-08002B2CF9AE}" pid="14" name="MSIP_Label_b0d5c4f4-7a29-4385-b7a5-afbe2154ae6f_Tag">
    <vt:lpwstr>10, 3, 0, 1</vt:lpwstr>
  </property>
</Properties>
</file>